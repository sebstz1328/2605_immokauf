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5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  <p:sldMasterId id="2147483688" r:id="rId7"/>
    <p:sldMasterId id="2147483715" r:id="rId8"/>
    <p:sldMasterId id="2147483750" r:id="rId9"/>
  </p:sldMasterIdLst>
  <p:notesMasterIdLst>
    <p:notesMasterId r:id="rId13"/>
  </p:notesMasterIdLst>
  <p:sldIdLst>
    <p:sldId id="2147481727" r:id="rId10"/>
    <p:sldId id="2147481729" r:id="rId11"/>
    <p:sldId id="259" r:id="rId12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10000"/>
      </a:lnSpc>
      <a:spcBef>
        <a:spcPts val="600"/>
      </a:spcBef>
      <a:buFontTx/>
      <a:buNone/>
      <a:defRPr sz="1400" kern="1200">
        <a:solidFill>
          <a:schemeClr val="tx2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lnSpc>
        <a:spcPct val="90000"/>
      </a:lnSpc>
      <a:spcBef>
        <a:spcPts val="600"/>
      </a:spcBef>
      <a:buClr>
        <a:schemeClr val="accent1"/>
      </a:buClr>
      <a:buFont typeface="Wingdings" panose="05000000000000000000" pitchFamily="2" charset="2"/>
      <a:buChar char="§"/>
      <a:defRPr sz="1400" kern="1200">
        <a:solidFill>
          <a:schemeClr val="tx2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5pPr>
    <a:lvl6pPr marL="864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6pPr>
    <a:lvl7pPr marL="864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7pPr>
    <a:lvl8pPr marL="864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8pPr>
    <a:lvl9pPr marL="864000" indent="-216000" algn="l" defTabSz="914400" rtl="0" eaLnBrk="1" latinLnBrk="0" hangingPunct="1">
      <a:lnSpc>
        <a:spcPct val="90000"/>
      </a:lnSpc>
      <a:spcBef>
        <a:spcPts val="600"/>
      </a:spcBef>
      <a:buFont typeface="Roboto" panose="02000000000000000000" pitchFamily="2" charset="0"/>
      <a:buChar char="–"/>
      <a:defRPr sz="1400" kern="1200">
        <a:solidFill>
          <a:schemeClr val="tx2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63E16-6D00-ACCB-650F-B8A4E78ED0F2}" v="22" dt="2026-02-04T13:34:51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3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74212-D16B-4D5A-89FA-9247A6CC9FEF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984C2-744C-4626-9CA4-140F0B33A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06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155700" y="355600"/>
            <a:ext cx="9053513" cy="5092700"/>
          </a:xfrm>
          <a:ln/>
        </p:spPr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326" y="5807794"/>
            <a:ext cx="5613896" cy="42581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89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4.w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5.w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6.w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4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Relationship Id="rId4" Type="http://schemas.openxmlformats.org/officeDocument/2006/relationships/image" Target="../media/image26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1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1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Relationship Id="rId4" Type="http://schemas.openxmlformats.org/officeDocument/2006/relationships/image" Target="../media/image25.emf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novation Curve">
            <a:extLst>
              <a:ext uri="{FF2B5EF4-FFF2-40B4-BE49-F238E27FC236}">
                <a16:creationId xmlns:a16="http://schemas.microsoft.com/office/drawing/2014/main" id="{9211F747-506E-5ED4-9B68-EE6B3F99C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322983" y="-14748"/>
            <a:ext cx="6872748" cy="687274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506BD0E-4DCD-8BA9-2037-DE975A1F09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84346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D68B773-8219-9567-613E-7A2F2D4F6C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843462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B553D8-6E2B-127F-58DE-5165236A2DF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fld id="{A59AC0A6-8CEE-48BB-B142-C9045A1B7D4D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53B208-9097-2E2C-EC03-BD8A67670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pic>
        <p:nvPicPr>
          <p:cNvPr id="4" name="NTT DATA Global Logo" descr="NTT DATA Logo">
            <a:extLst>
              <a:ext uri="{FF2B5EF4-FFF2-40B4-BE49-F238E27FC236}">
                <a16:creationId xmlns:a16="http://schemas.microsoft.com/office/drawing/2014/main" id="{07CD756B-D053-7A46-EC8E-FF1D6BF1F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6" name="Info box">
            <a:extLst>
              <a:ext uri="{FF2B5EF4-FFF2-40B4-BE49-F238E27FC236}">
                <a16:creationId xmlns:a16="http://schemas.microsoft.com/office/drawing/2014/main" id="{E5857A3D-5E1B-B6B2-6DE4-DAB9237BB2E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02828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novation Curve">
            <a:extLst>
              <a:ext uri="{FF2B5EF4-FFF2-40B4-BE49-F238E27FC236}">
                <a16:creationId xmlns:a16="http://schemas.microsoft.com/office/drawing/2014/main" id="{00ADE50C-F63B-648C-9FD0-E0FA384DF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2ADFA92-0E48-355A-2DA8-D40523A9A8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969876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8B12889-37ED-D704-59B8-7CECF20BCF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969876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5333B3-E5F2-A1A8-F59F-D7085B34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0FCC36-8879-E02B-48F4-D31C54AAA16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fld id="{A59AC0A6-8CEE-48BB-B142-C9045A1B7D4D}" type="datetimeFigureOut">
              <a:rPr lang="de-DE" smtClean="0"/>
              <a:t>20.02.2026</a:t>
            </a:fld>
            <a:endParaRPr lang="de-DE"/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6696BBEF-690F-3F5E-4ABD-464267D36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2" name="Info box">
            <a:extLst>
              <a:ext uri="{FF2B5EF4-FFF2-40B4-BE49-F238E27FC236}">
                <a16:creationId xmlns:a16="http://schemas.microsoft.com/office/drawing/2014/main" id="{329FBFF1-6701-C642-00EB-72165BE637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371475" y="5875374"/>
            <a:ext cx="2737108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97279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CCA6BB-2FF1-1F79-CE75-4214597FB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FBC9B23-4469-4B26-BEC9-4E111C2B8F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11440477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6E1903-FF29-7A88-0707-803367E5E51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fld id="{A59AC0A6-8CEE-48BB-B142-C9045A1B7D4D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6BE1-1DE6-82D8-B7EF-529F2205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2F900288-9276-0271-5B36-DA597F55D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7" name="Info box">
            <a:extLst>
              <a:ext uri="{FF2B5EF4-FFF2-40B4-BE49-F238E27FC236}">
                <a16:creationId xmlns:a16="http://schemas.microsoft.com/office/drawing/2014/main" id="{1683A5FA-61CB-0385-8B2C-D15BE457EBD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82130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Cover_Light_Image Botto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71475" y="2050182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1412875"/>
            <a:ext cx="11449050" cy="651610"/>
          </a:xfrm>
        </p:spPr>
        <p:txBody>
          <a:bodyPr/>
          <a:lstStyle>
            <a:lvl1pPr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Innovation Curve Over">
            <a:extLst>
              <a:ext uri="{FF2B5EF4-FFF2-40B4-BE49-F238E27FC236}">
                <a16:creationId xmlns:a16="http://schemas.microsoft.com/office/drawing/2014/main" id="{0E296AC8-E4D5-3A7F-3C42-CC289AAB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26140" y="3147301"/>
            <a:ext cx="7943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fld id="{A59AC0A6-8CEE-48BB-B142-C9045A1B7D4D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123498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pic>
        <p:nvPicPr>
          <p:cNvPr id="4" name="NTT DATA Global Logo">
            <a:extLst>
              <a:ext uri="{FF2B5EF4-FFF2-40B4-BE49-F238E27FC236}">
                <a16:creationId xmlns:a16="http://schemas.microsoft.com/office/drawing/2014/main" id="{93955C0C-38C4-366F-0C4D-7A71C122E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5" name="Info box">
            <a:extLst>
              <a:ext uri="{FF2B5EF4-FFF2-40B4-BE49-F238E27FC236}">
                <a16:creationId xmlns:a16="http://schemas.microsoft.com/office/drawing/2014/main" id="{4219B810-9C7C-888F-0EA9-5DF76A5618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51775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20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nnovationCurve on Right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8E54CF47-5670-1E36-A01C-CE6BD5FD4E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8070773" y="2431973"/>
            <a:ext cx="3740227" cy="37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1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nnovation Curve 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E44EF5E-6648-1398-B4E7-717D749EE98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94575" y="2447060"/>
            <a:ext cx="3718800" cy="3718800"/>
          </a:xfrm>
          <a:prstGeom prst="rect">
            <a:avLst/>
          </a:prstGeom>
        </p:spPr>
      </p:pic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74CB7FF-BF38-583F-EB84-775D76F699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71475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B94D9BD-B0EA-63BE-7EB0-C414D042F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7714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464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11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62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566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42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Blank_Light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73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Blank_Light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562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Picture Full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chemeClr val="tx1"/>
          </a:solidFill>
        </p:spPr>
        <p:txBody>
          <a:bodyPr anchor="ctr" anchorCtr="0"/>
          <a:lstStyle>
            <a:lvl1pPr algn="ctr">
              <a:defRPr sz="2000">
                <a:solidFill>
                  <a:srgbClr val="0072BC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AAC9A100-4458-748B-AE62-3E3DB5DF451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2293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Picture Righ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23A48BA-9053-57A9-84AD-74E47A8839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10531725" y="6449745"/>
            <a:ext cx="1288800" cy="262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415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799" y="333375"/>
            <a:ext cx="7324725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E1D6E42-CF16-1247-063C-E673C26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485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Bottom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3332E3DA-1D9C-AE98-90B7-99F86957B3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10531725" y="6449745"/>
            <a:ext cx="1288800" cy="262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374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s Thre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37810C3F-8126-9187-298C-78C18E4DEC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71475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9362F217-E245-B1E7-6E7D-C2737EF5C8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267201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08BFE69C-6456-64E6-6838-D713604E3E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8162925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42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Coll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884852" y="3987605"/>
            <a:ext cx="5371357" cy="224968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49318" y="2163386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71475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349318" y="2140170"/>
            <a:ext cx="2448000" cy="26806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71475" y="24225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884544" y="333375"/>
            <a:ext cx="4371666" cy="355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tx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tx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359747" y="333375"/>
            <a:ext cx="24480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349318" y="3744196"/>
            <a:ext cx="244800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884852" y="5399590"/>
            <a:ext cx="5371200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349318" y="4926695"/>
            <a:ext cx="2448000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/>
        </p:nvSpPr>
        <p:spPr bwMode="gray"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9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Bild">
            <a:extLst>
              <a:ext uri="{FF2B5EF4-FFF2-40B4-BE49-F238E27FC236}">
                <a16:creationId xmlns:a16="http://schemas.microsoft.com/office/drawing/2014/main" id="{9948B5AA-38C9-B8A3-3B71-91B71CEE40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2267270" y="2011950"/>
            <a:ext cx="3488705" cy="3488400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FA68653F-43DC-95F4-8019-D687C49DF2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6199" y="2972822"/>
            <a:ext cx="5394325" cy="256154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EF2ADD26-2918-0B9D-FD8C-C827394873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426199" y="3246666"/>
            <a:ext cx="5394325" cy="256154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5" name="Textplatzhalter 19">
            <a:extLst>
              <a:ext uri="{FF2B5EF4-FFF2-40B4-BE49-F238E27FC236}">
                <a16:creationId xmlns:a16="http://schemas.microsoft.com/office/drawing/2014/main" id="{9EC91858-6461-F85C-95CE-7518EFFFDC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26199" y="2589435"/>
            <a:ext cx="5394325" cy="368078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7DD02888-CBDA-F97C-A43C-E0268623CA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426199" y="4178440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8D088A0B-0BA4-2E4D-A19C-6319AF5B53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26199" y="4397515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1EEE35C9-767B-D99D-39BB-49CBA3F842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426199" y="4616591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D833AD2-88EE-469C-7682-57A4D65529E7}"/>
              </a:ext>
            </a:extLst>
          </p:cNvPr>
          <p:cNvCxnSpPr>
            <a:cxnSpLocks/>
          </p:cNvCxnSpPr>
          <p:nvPr/>
        </p:nvCxnSpPr>
        <p:spPr bwMode="gray">
          <a:xfrm flipH="1">
            <a:off x="6426199" y="384063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776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28FFDF24-CEC1-8F04-920F-C95EB4279D4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2889419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Textplatzhalter 19">
            <a:extLst>
              <a:ext uri="{FF2B5EF4-FFF2-40B4-BE49-F238E27FC236}">
                <a16:creationId xmlns:a16="http://schemas.microsoft.com/office/drawing/2014/main" id="{1B7E1544-D47A-3A30-5A4C-E95205A3B5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713041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076DBF6-D36A-6E5A-3EFD-C4C38456B8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713041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70474D20-DAC8-4E03-D93A-5E336E2DB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2713041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17" name="Textplatzhalter 19">
            <a:extLst>
              <a:ext uri="{FF2B5EF4-FFF2-40B4-BE49-F238E27FC236}">
                <a16:creationId xmlns:a16="http://schemas.microsoft.com/office/drawing/2014/main" id="{7DF1E395-B606-BCBA-6897-2E0A34464E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713041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8B685D0D-BA9D-5ED6-0996-C304842E3E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2713041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C4594950-DD09-2E36-A783-CF3B1013F6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2713041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0" name="Bild">
            <a:extLst>
              <a:ext uri="{FF2B5EF4-FFF2-40B4-BE49-F238E27FC236}">
                <a16:creationId xmlns:a16="http://schemas.microsoft.com/office/drawing/2014/main" id="{F36317AB-AE94-D498-F8F6-3450467715D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7144188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F01F2DA8-007D-3C82-B8BA-4DF26F5CD2A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6967810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2142F0D-3C5A-85B4-5E2A-8D0308F9D41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6967810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6AD99CAC-851D-F368-5CAF-F0E29A29344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6967810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B1D9BE-B0D3-503A-B043-9F88ED11D6A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6967810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2802FA9B-84F3-7129-C6F5-215B812BAD2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6967810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BB21797B-8CFE-485B-E4ED-DD6453B0EE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967810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6BB2330-FD87-F1F5-420C-96EEFA7D5EEE}"/>
              </a:ext>
            </a:extLst>
          </p:cNvPr>
          <p:cNvCxnSpPr>
            <a:cxnSpLocks/>
          </p:cNvCxnSpPr>
          <p:nvPr/>
        </p:nvCxnSpPr>
        <p:spPr bwMode="gray">
          <a:xfrm flipH="1">
            <a:off x="3703185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ED6F201-F5A5-9A94-DF70-734B4C585AED}"/>
              </a:ext>
            </a:extLst>
          </p:cNvPr>
          <p:cNvCxnSpPr>
            <a:cxnSpLocks/>
          </p:cNvCxnSpPr>
          <p:nvPr/>
        </p:nvCxnSpPr>
        <p:spPr bwMode="gray">
          <a:xfrm flipH="1">
            <a:off x="7957954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24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Bild">
            <a:extLst>
              <a:ext uri="{FF2B5EF4-FFF2-40B4-BE49-F238E27FC236}">
                <a16:creationId xmlns:a16="http://schemas.microsoft.com/office/drawing/2014/main" id="{39AEFD9F-70E6-5C57-9436-1749177EF0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1502898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7C1C95DB-5597-0591-2531-E1B3711EA9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326520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" name="Textplatzhalter 19">
            <a:extLst>
              <a:ext uri="{FF2B5EF4-FFF2-40B4-BE49-F238E27FC236}">
                <a16:creationId xmlns:a16="http://schemas.microsoft.com/office/drawing/2014/main" id="{B3ABC7FD-E9DD-2056-C2DD-E029D9AA2E5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326520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FE51A178-72AA-A0DC-0AA4-A9E969630EC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326520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BCC91446-93DE-E095-F1D5-359F929FBF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1326520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3C0201BE-12D7-CB4E-1E31-0B52B5F8D2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1326520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E8AAF35B-5ABC-EA43-39C8-033629111A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1326520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7" name="Bild">
            <a:extLst>
              <a:ext uri="{FF2B5EF4-FFF2-40B4-BE49-F238E27FC236}">
                <a16:creationId xmlns:a16="http://schemas.microsoft.com/office/drawing/2014/main" id="{DD7FE38A-51E1-4E43-BB57-1664A248CB8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5016397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8" name="Bild">
            <a:extLst>
              <a:ext uri="{FF2B5EF4-FFF2-40B4-BE49-F238E27FC236}">
                <a16:creationId xmlns:a16="http://schemas.microsoft.com/office/drawing/2014/main" id="{51BA8FB0-222A-0F16-0114-3BB853F4562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8529896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2FC1F118-28C7-4937-8FA8-52653C8B7B8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840019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9956C4FB-FC8C-0A01-8FBD-746ACAC51D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840019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970BB876-E1DE-3E78-7E09-2CAA27FA90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840019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D9A2957C-6E58-625D-F432-838F79B9CE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4840019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74BEB116-9F3B-9EFD-DC83-6B0730E8AD6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840019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34" name="Textplatzhalter 19">
            <a:extLst>
              <a:ext uri="{FF2B5EF4-FFF2-40B4-BE49-F238E27FC236}">
                <a16:creationId xmlns:a16="http://schemas.microsoft.com/office/drawing/2014/main" id="{4CB43218-24DA-32A8-D5BE-9A424D0A36C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840019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35" name="Textplatzhalter 19">
            <a:extLst>
              <a:ext uri="{FF2B5EF4-FFF2-40B4-BE49-F238E27FC236}">
                <a16:creationId xmlns:a16="http://schemas.microsoft.com/office/drawing/2014/main" id="{E81E8992-8200-DACF-50F0-649AF690BC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8353518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6" name="Textplatzhalter 19">
            <a:extLst>
              <a:ext uri="{FF2B5EF4-FFF2-40B4-BE49-F238E27FC236}">
                <a16:creationId xmlns:a16="http://schemas.microsoft.com/office/drawing/2014/main" id="{FE10506F-CB8E-5C2C-268B-4C764467679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8353518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A71613BB-31C5-D570-5383-46C9D241237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353518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38" name="Textplatzhalter 19">
            <a:extLst>
              <a:ext uri="{FF2B5EF4-FFF2-40B4-BE49-F238E27FC236}">
                <a16:creationId xmlns:a16="http://schemas.microsoft.com/office/drawing/2014/main" id="{12B33152-4061-29D7-B525-D62B4334363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8353518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39" name="Textplatzhalter 19">
            <a:extLst>
              <a:ext uri="{FF2B5EF4-FFF2-40B4-BE49-F238E27FC236}">
                <a16:creationId xmlns:a16="http://schemas.microsoft.com/office/drawing/2014/main" id="{37EE4F2D-7C8F-4CB3-34E5-18895BF5B40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8353518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A171BA9E-108C-6597-2BE9-C9463EA96A9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8353518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D7355B3D-D952-564D-F6B5-38C981C2232A}"/>
              </a:ext>
            </a:extLst>
          </p:cNvPr>
          <p:cNvCxnSpPr>
            <a:cxnSpLocks/>
          </p:cNvCxnSpPr>
          <p:nvPr/>
        </p:nvCxnSpPr>
        <p:spPr bwMode="gray">
          <a:xfrm flipH="1">
            <a:off x="9343662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AD9BFD0-8B33-C4F2-26EA-F781EC378742}"/>
              </a:ext>
            </a:extLst>
          </p:cNvPr>
          <p:cNvCxnSpPr>
            <a:cxnSpLocks/>
          </p:cNvCxnSpPr>
          <p:nvPr/>
        </p:nvCxnSpPr>
        <p:spPr bwMode="gray">
          <a:xfrm flipH="1">
            <a:off x="5830163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6B9A061-2542-A110-021C-60C378C2E63B}"/>
              </a:ext>
            </a:extLst>
          </p:cNvPr>
          <p:cNvCxnSpPr>
            <a:cxnSpLocks/>
          </p:cNvCxnSpPr>
          <p:nvPr/>
        </p:nvCxnSpPr>
        <p:spPr bwMode="gray">
          <a:xfrm flipH="1">
            <a:off x="2316664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98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Bild">
            <a:extLst>
              <a:ext uri="{FF2B5EF4-FFF2-40B4-BE49-F238E27FC236}">
                <a16:creationId xmlns:a16="http://schemas.microsoft.com/office/drawing/2014/main" id="{2A5B58F7-6571-4DC4-52C5-89B52F0B812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849755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Textplatzhalter 19">
            <a:extLst>
              <a:ext uri="{FF2B5EF4-FFF2-40B4-BE49-F238E27FC236}">
                <a16:creationId xmlns:a16="http://schemas.microsoft.com/office/drawing/2014/main" id="{1BC2DEA3-6146-E2B7-B8EF-0A098B405B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73377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B8E80BF5-8647-E0C4-2C30-BE556DB9B8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73377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358C96F8-4CBF-4103-655D-C3EEC238DE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73377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17" name="Textplatzhalter 19">
            <a:extLst>
              <a:ext uri="{FF2B5EF4-FFF2-40B4-BE49-F238E27FC236}">
                <a16:creationId xmlns:a16="http://schemas.microsoft.com/office/drawing/2014/main" id="{9FB3B7BA-84AB-767A-6945-047A5BC05E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73377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5B477043-CC96-8DC5-1C2C-C3700FC5F8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73377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14E53D44-2EB1-DE97-3776-CB86868FFB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3377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0" name="Bild">
            <a:extLst>
              <a:ext uri="{FF2B5EF4-FFF2-40B4-BE49-F238E27FC236}">
                <a16:creationId xmlns:a16="http://schemas.microsoft.com/office/drawing/2014/main" id="{679554FC-C9C0-481C-A95E-C08D8D61BD9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6405279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1" name="Bild">
            <a:extLst>
              <a:ext uri="{FF2B5EF4-FFF2-40B4-BE49-F238E27FC236}">
                <a16:creationId xmlns:a16="http://schemas.microsoft.com/office/drawing/2014/main" id="{E5FC9244-6206-AE10-AE4D-CEABAC3D8D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3627517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43603E40-2CF2-F812-F348-AD05E8CED30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9183040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6A54E0CE-F3C1-3C72-6B0B-2E3525AE19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3451139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91E2F9BC-0D27-4B03-A91F-BA3418D3F1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451139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B19C57C2-CEFF-904C-F57F-98CB3CB83E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451139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D4A631FC-276C-6317-C57C-DBF3825244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3451139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41" name="Textplatzhalter 19">
            <a:extLst>
              <a:ext uri="{FF2B5EF4-FFF2-40B4-BE49-F238E27FC236}">
                <a16:creationId xmlns:a16="http://schemas.microsoft.com/office/drawing/2014/main" id="{5C5A3CF2-D46D-F6E8-1B26-D5561C1E7A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3451139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42" name="Textplatzhalter 19">
            <a:extLst>
              <a:ext uri="{FF2B5EF4-FFF2-40B4-BE49-F238E27FC236}">
                <a16:creationId xmlns:a16="http://schemas.microsoft.com/office/drawing/2014/main" id="{67F71007-B96D-0098-ECE9-14093936247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3451139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43" name="Textplatzhalter 19">
            <a:extLst>
              <a:ext uri="{FF2B5EF4-FFF2-40B4-BE49-F238E27FC236}">
                <a16:creationId xmlns:a16="http://schemas.microsoft.com/office/drawing/2014/main" id="{0E48DE33-97F5-F8DA-6613-F0B97BE8F4B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28901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4" name="Textplatzhalter 19">
            <a:extLst>
              <a:ext uri="{FF2B5EF4-FFF2-40B4-BE49-F238E27FC236}">
                <a16:creationId xmlns:a16="http://schemas.microsoft.com/office/drawing/2014/main" id="{8845C0FD-9FB9-7487-76A8-6BE7FD80151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228901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45" name="Textplatzhalter 19">
            <a:extLst>
              <a:ext uri="{FF2B5EF4-FFF2-40B4-BE49-F238E27FC236}">
                <a16:creationId xmlns:a16="http://schemas.microsoft.com/office/drawing/2014/main" id="{6AA843EA-66C9-C7F9-45EC-A18E7D27C2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228901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46" name="Textplatzhalter 19">
            <a:extLst>
              <a:ext uri="{FF2B5EF4-FFF2-40B4-BE49-F238E27FC236}">
                <a16:creationId xmlns:a16="http://schemas.microsoft.com/office/drawing/2014/main" id="{2FB8C341-EEED-B1B1-4144-6806EC67046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228901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47" name="Textplatzhalter 19">
            <a:extLst>
              <a:ext uri="{FF2B5EF4-FFF2-40B4-BE49-F238E27FC236}">
                <a16:creationId xmlns:a16="http://schemas.microsoft.com/office/drawing/2014/main" id="{47AF57AA-E604-29E8-C184-EAC74301823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6228901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48" name="Textplatzhalter 19">
            <a:extLst>
              <a:ext uri="{FF2B5EF4-FFF2-40B4-BE49-F238E27FC236}">
                <a16:creationId xmlns:a16="http://schemas.microsoft.com/office/drawing/2014/main" id="{CF9B4E59-0310-6D96-2553-D144860A5C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6228901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49" name="Textplatzhalter 19">
            <a:extLst>
              <a:ext uri="{FF2B5EF4-FFF2-40B4-BE49-F238E27FC236}">
                <a16:creationId xmlns:a16="http://schemas.microsoft.com/office/drawing/2014/main" id="{CF1502FD-D684-00B7-9E51-E9FE8ADB1B1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006662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0" name="Textplatzhalter 19">
            <a:extLst>
              <a:ext uri="{FF2B5EF4-FFF2-40B4-BE49-F238E27FC236}">
                <a16:creationId xmlns:a16="http://schemas.microsoft.com/office/drawing/2014/main" id="{1596965F-0530-28D7-8AF3-E511601A9C2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006662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51" name="Textplatzhalter 19">
            <a:extLst>
              <a:ext uri="{FF2B5EF4-FFF2-40B4-BE49-F238E27FC236}">
                <a16:creationId xmlns:a16="http://schemas.microsoft.com/office/drawing/2014/main" id="{1E71F1B8-36E5-A354-55CB-E901006317A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9006662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52" name="Textplatzhalter 19">
            <a:extLst>
              <a:ext uri="{FF2B5EF4-FFF2-40B4-BE49-F238E27FC236}">
                <a16:creationId xmlns:a16="http://schemas.microsoft.com/office/drawing/2014/main" id="{FE15675C-3EC1-F9A4-94F4-BCE068E0CC3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9006662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53" name="Textplatzhalter 19">
            <a:extLst>
              <a:ext uri="{FF2B5EF4-FFF2-40B4-BE49-F238E27FC236}">
                <a16:creationId xmlns:a16="http://schemas.microsoft.com/office/drawing/2014/main" id="{1A7EEACF-9147-9705-A666-5D2C04D784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9006662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54" name="Textplatzhalter 19">
            <a:extLst>
              <a:ext uri="{FF2B5EF4-FFF2-40B4-BE49-F238E27FC236}">
                <a16:creationId xmlns:a16="http://schemas.microsoft.com/office/drawing/2014/main" id="{1DA0D8FD-3459-9438-20CF-47A634A12C7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9006662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F71352BF-4D2F-D352-E8E5-FC8E96936F08}"/>
              </a:ext>
            </a:extLst>
          </p:cNvPr>
          <p:cNvCxnSpPr>
            <a:cxnSpLocks/>
          </p:cNvCxnSpPr>
          <p:nvPr/>
        </p:nvCxnSpPr>
        <p:spPr bwMode="gray">
          <a:xfrm flipH="1">
            <a:off x="4441283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E78E666-91DF-A384-7FF9-6B46FF0AB3B3}"/>
              </a:ext>
            </a:extLst>
          </p:cNvPr>
          <p:cNvCxnSpPr>
            <a:cxnSpLocks/>
          </p:cNvCxnSpPr>
          <p:nvPr/>
        </p:nvCxnSpPr>
        <p:spPr bwMode="gray">
          <a:xfrm flipH="1">
            <a:off x="1663521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F9AE90A-3D19-C42F-D463-9F70B664F524}"/>
              </a:ext>
            </a:extLst>
          </p:cNvPr>
          <p:cNvCxnSpPr>
            <a:cxnSpLocks/>
          </p:cNvCxnSpPr>
          <p:nvPr/>
        </p:nvCxnSpPr>
        <p:spPr bwMode="gray">
          <a:xfrm flipH="1">
            <a:off x="7219045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1BB3CEE-CB0F-A50B-C004-4CF41520D8AC}"/>
              </a:ext>
            </a:extLst>
          </p:cNvPr>
          <p:cNvCxnSpPr>
            <a:cxnSpLocks/>
          </p:cNvCxnSpPr>
          <p:nvPr/>
        </p:nvCxnSpPr>
        <p:spPr bwMode="gray">
          <a:xfrm flipH="1">
            <a:off x="9996806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9490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_Closing Slide Whi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TT DATA Global Logo">
            <a:extLst>
              <a:ext uri="{FF2B5EF4-FFF2-40B4-BE49-F238E27FC236}">
                <a16:creationId xmlns:a16="http://schemas.microsoft.com/office/drawing/2014/main" id="{01F40004-0B55-0534-B49E-3160E9FA2E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770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_Closing Slide Future Blue with Picture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98CC4E28-4615-54DE-9A23-19AE8504C32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B17ABEB-CE11-6DFE-1EDF-82662ED8C9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689479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0D268-6F46-7546-47F6-09656D96F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E8B2B7-F1E4-2AFE-B885-CE41ADF02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6B8E78-CA0B-56E8-34A6-34767CF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AE1A-6FDA-4F75-9C4D-893802B66658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7CA3A0-E3C2-DA78-0389-3E3F66CA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FC03C1-7D41-5396-7ADE-DEFA2BA0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3653C-DA28-4013-A84C-C3D010E230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7648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Full Image, Full Innovation Cur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3" name="Innovation Curve">
            <a:extLst>
              <a:ext uri="{FF2B5EF4-FFF2-40B4-BE49-F238E27FC236}">
                <a16:creationId xmlns:a16="http://schemas.microsoft.com/office/drawing/2014/main" id="{18332D96-F8AA-AD1E-863A-6EA58DA26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65655" y="0"/>
            <a:ext cx="6835842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7622" y="0"/>
            <a:ext cx="12191999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 Then Reorder: Send to back 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110DC3BE-587D-42BA-BCF8-42B26AAAE587}" type="datetime1">
              <a:rPr lang="en-US" smtClean="0"/>
              <a:t>2/20/2026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28266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Full Image, Partial Innovation Cur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8" name="Innovation Curve">
            <a:extLst>
              <a:ext uri="{FF2B5EF4-FFF2-40B4-BE49-F238E27FC236}">
                <a16:creationId xmlns:a16="http://schemas.microsoft.com/office/drawing/2014/main" id="{F707DE12-3594-93EB-F056-2B2C43B247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637463" y="3175"/>
            <a:ext cx="4554537" cy="68564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 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60AFA7AC-206E-4635-A3EE-F6204F342BC4}" type="datetime1">
              <a:rPr lang="en-US" smtClean="0"/>
              <a:t>2/20/2026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FEFADB67-55CA-B657-EB4D-19C9E2824C8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371475" y="5875374"/>
            <a:ext cx="2737108" cy="395869"/>
          </a:xfrm>
          <a:prstGeom prst="rect">
            <a:avLst/>
          </a:prstGeom>
          <a:ln>
            <a:noFill/>
          </a:ln>
        </p:spPr>
        <p:txBody>
          <a:bodyPr wrap="square" lIns="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62646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Full Imag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F38E4A-7B13-70A1-52C6-61A780336E8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D5A18EA7-EAE7-43C3-A0D2-18C5F99A3F8C}" type="datetime1">
              <a:rPr lang="en-US" smtClean="0"/>
              <a:t>2/20/2026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Info box">
            <a:extLst>
              <a:ext uri="{FF2B5EF4-FFF2-40B4-BE49-F238E27FC236}">
                <a16:creationId xmlns:a16="http://schemas.microsoft.com/office/drawing/2014/main" id="{4E601763-0A29-584B-E5B8-0EC4B769B75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22508787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Cover_Dark_Imag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blackGray"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blackGray"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blackGray"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Gray">
          <a:xfrm>
            <a:off x="371475" y="1412875"/>
            <a:ext cx="11449050" cy="651610"/>
          </a:xfrm>
        </p:spPr>
        <p:txBody>
          <a:bodyPr/>
          <a:lstStyle>
            <a:lvl1pPr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76DE37CD-7BC4-46C8-A076-C48DCC88969E}" type="datetime1">
              <a:rPr lang="en-US" smtClean="0"/>
              <a:t>2/20/2026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Innovation Curve Over v02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blackGray"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    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tx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Info box">
            <a:extLst>
              <a:ext uri="{FF2B5EF4-FFF2-40B4-BE49-F238E27FC236}">
                <a16:creationId xmlns:a16="http://schemas.microsoft.com/office/drawing/2014/main" id="{AE1EAEE1-83E0-EC11-9F89-70F17E559B6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blackGray">
          <a:xfrm>
            <a:off x="10176832" y="333376"/>
            <a:ext cx="1868023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4015952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mage Left 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6615A63-B90D-3E21-FFCC-8BD272C8F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F0D2DC-FE73-D4FE-FDBD-22395D919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</p:spTree>
    <p:extLst>
      <p:ext uri="{BB962C8B-B14F-4D97-AF65-F5344CB8AC3E}">
        <p14:creationId xmlns:p14="http://schemas.microsoft.com/office/powerpoint/2010/main" val="41742646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nnovationCurve on Right 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8" name="Innovation 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871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Divider_Innovation Curve Image Left 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2FCF57D-17C6-2F3A-C1B3-1679B62BF9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94575" y="2447060"/>
            <a:ext cx="3718800" cy="3718800"/>
          </a:xfrm>
          <a:prstGeom prst="rect">
            <a:avLst/>
          </a:prstGeom>
        </p:spPr>
      </p:pic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A704BD6-71C6-D230-9A15-8A46EC1807B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71475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9272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30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38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86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07985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70012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Blank_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551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Blank_Dar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4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34746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04FE43F0-9475-52DB-0AB8-607E056B6C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10531725" y="6449745"/>
            <a:ext cx="1288800" cy="262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47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B71A8E-A74B-23B8-28AD-0C986AB97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4F142D3-5E2E-9408-9D9E-9CA503007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5D998802-8F7B-9A10-0DF7-61FBFD6E1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495799" y="333375"/>
            <a:ext cx="7324725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4351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Bottom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D6E3DA0-BCD2-8707-7E1B-E56623F85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FC868B2-987D-36AF-7388-FCE1616A30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gradFill>
            <a:gsLst>
              <a:gs pos="0">
                <a:schemeClr val="bg1"/>
              </a:gs>
              <a:gs pos="8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C20AB549-57A1-AE9C-6237-51C9E31336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10531725" y="6449745"/>
            <a:ext cx="1288800" cy="262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079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C42C376-0AFE-66AC-AD48-D7DF83D28D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71475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97B4F67-9197-1F0C-06C1-2D7581F247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267201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3BAF9EDB-8398-EBF9-65E7-486218682E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8162925" y="4378960"/>
            <a:ext cx="3657600" cy="1857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8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Picture Collection 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/>
        </p:nvSpPr>
        <p:spPr bwMode="gray"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0C8FF3E1-7296-5F16-4A05-46FE6C63B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884852" y="3987605"/>
            <a:ext cx="5371357" cy="224968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40AB8DA9-A69B-4E07-649F-D7F377939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49318" y="2163386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FD37530F-3C4A-7D5E-92A7-0ECB53BEF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71475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E9885110-503F-60E9-B051-6A81233C1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349318" y="2140170"/>
            <a:ext cx="2448000" cy="26806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71208CF-104A-8CA6-560F-DD8F1E42F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71475" y="24225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DC9B537-F308-5D0A-0ADB-686C85DB16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884544" y="333375"/>
            <a:ext cx="4371666" cy="35556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tx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tx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43A55220-973F-D77F-0512-928E00FD23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359747" y="333375"/>
            <a:ext cx="24480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C8D66836-BE4C-186F-91EC-6185CD7DBB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349318" y="3744196"/>
            <a:ext cx="244800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F07220C-71BF-2AC7-BDED-7C252C6258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B870FE4-EEFB-FE24-2C58-DE2A16E0E9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884852" y="5399590"/>
            <a:ext cx="5371200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D6DDC3D0-182E-7130-0E50-6B1AB5C1DE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349318" y="4926695"/>
            <a:ext cx="2448000" cy="131059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16495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Bild">
            <a:extLst>
              <a:ext uri="{FF2B5EF4-FFF2-40B4-BE49-F238E27FC236}">
                <a16:creationId xmlns:a16="http://schemas.microsoft.com/office/drawing/2014/main" id="{4CC7DCAF-B2CD-3B7D-E178-56F9310392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2267270" y="2011950"/>
            <a:ext cx="3488705" cy="3488400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24EAD1E1-380A-9FAF-070A-DDDC45ECCA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6199" y="2972822"/>
            <a:ext cx="5394325" cy="25615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96E5AC2D-397D-E319-0AFC-6808ACE877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426199" y="3246666"/>
            <a:ext cx="5394325" cy="25615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5" name="Textplatzhalter 19">
            <a:extLst>
              <a:ext uri="{FF2B5EF4-FFF2-40B4-BE49-F238E27FC236}">
                <a16:creationId xmlns:a16="http://schemas.microsoft.com/office/drawing/2014/main" id="{602F9BFE-9706-DF6E-9360-FEE8A8D4CF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26199" y="2589435"/>
            <a:ext cx="5394325" cy="368078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B80CD46D-FAAB-152C-4063-47492270BA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426199" y="4178440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D9E8C6F-5249-CF8D-CC8C-1D18DE96AA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26199" y="4397515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B4A5F30D-E180-8CDB-4CBF-B5E6B1CE30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426199" y="4616591"/>
            <a:ext cx="5394325" cy="187184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5FED17C3-FC4F-7B91-21C9-988C8D436F0F}"/>
              </a:ext>
            </a:extLst>
          </p:cNvPr>
          <p:cNvCxnSpPr>
            <a:cxnSpLocks/>
          </p:cNvCxnSpPr>
          <p:nvPr/>
        </p:nvCxnSpPr>
        <p:spPr bwMode="gray">
          <a:xfrm flipH="1">
            <a:off x="6426199" y="384063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807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557575C8-6431-12A3-895D-45BB2DD19B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2889419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Textplatzhalter 19">
            <a:extLst>
              <a:ext uri="{FF2B5EF4-FFF2-40B4-BE49-F238E27FC236}">
                <a16:creationId xmlns:a16="http://schemas.microsoft.com/office/drawing/2014/main" id="{60BA97C1-891E-35D3-F7DE-6AE8C84863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713041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FEDBECCC-E388-CA03-4920-90ECCB6A95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713041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AF65C019-0E4A-C8B5-2DB7-5327455A0C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2713041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17" name="Textplatzhalter 19">
            <a:extLst>
              <a:ext uri="{FF2B5EF4-FFF2-40B4-BE49-F238E27FC236}">
                <a16:creationId xmlns:a16="http://schemas.microsoft.com/office/drawing/2014/main" id="{6837C6B5-3816-9533-A19D-78333F0AB2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713041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99BDB956-AABF-98CD-09B7-A5EC2299F4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2713041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037CF607-A5F0-BFC7-29A0-45AFCA4ACA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2713041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0" name="Bild">
            <a:extLst>
              <a:ext uri="{FF2B5EF4-FFF2-40B4-BE49-F238E27FC236}">
                <a16:creationId xmlns:a16="http://schemas.microsoft.com/office/drawing/2014/main" id="{0DC5AF74-C2A5-03C1-45C4-D1AEC581CF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7144188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03A867AA-BA5A-EF00-0579-A03C42B90D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6967810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29DB1B20-A0AA-3176-2157-D9B1B9C9F52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6967810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F44048F5-2785-E175-C768-94D382B3205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6967810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91E019D-0DF8-5E5A-6887-AEA97A38E55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6967810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59BBF415-E8BF-24F5-AE98-3FE40A27D7D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6967810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81BFBAE5-787E-888E-9ECF-5EE31D61DA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967810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9AD5D1A-461B-3847-37DC-3F545B1243CD}"/>
              </a:ext>
            </a:extLst>
          </p:cNvPr>
          <p:cNvCxnSpPr>
            <a:cxnSpLocks/>
          </p:cNvCxnSpPr>
          <p:nvPr/>
        </p:nvCxnSpPr>
        <p:spPr bwMode="gray">
          <a:xfrm flipH="1">
            <a:off x="3703185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8432202-A57D-D4C4-FB2D-5F10E371FFEB}"/>
              </a:ext>
            </a:extLst>
          </p:cNvPr>
          <p:cNvCxnSpPr>
            <a:cxnSpLocks/>
          </p:cNvCxnSpPr>
          <p:nvPr/>
        </p:nvCxnSpPr>
        <p:spPr bwMode="gray">
          <a:xfrm flipH="1">
            <a:off x="7957954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793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Bild">
            <a:extLst>
              <a:ext uri="{FF2B5EF4-FFF2-40B4-BE49-F238E27FC236}">
                <a16:creationId xmlns:a16="http://schemas.microsoft.com/office/drawing/2014/main" id="{51A51BF0-AA6D-1885-7B29-DAC72D2AF7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1502898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29F52C55-3259-0C33-FD07-5925E2121A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326520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EF08589A-2633-C015-C938-602F2A2EDE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326520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5" name="Textplatzhalter 19">
            <a:extLst>
              <a:ext uri="{FF2B5EF4-FFF2-40B4-BE49-F238E27FC236}">
                <a16:creationId xmlns:a16="http://schemas.microsoft.com/office/drawing/2014/main" id="{A193C798-666B-CFA8-4FEB-36FCAF36D1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326520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44625A74-83E8-F51F-EFBE-AEDB3BF895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1326520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8EED522A-F794-7918-BA3A-79CC0B1739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1326520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1D2D5F28-B111-86F6-4619-F561363203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1326520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EEC25022-BC45-C31C-C72F-200DE9FA172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5016397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4836C760-778A-4F6D-EBEB-546A906E5CF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8529896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Textplatzhalter 19">
            <a:extLst>
              <a:ext uri="{FF2B5EF4-FFF2-40B4-BE49-F238E27FC236}">
                <a16:creationId xmlns:a16="http://schemas.microsoft.com/office/drawing/2014/main" id="{8676FDBA-6C0B-DF48-EC66-3F9242DE74B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840019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A3556B82-6BB4-F3B0-E5B6-47EBF82E15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840019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2F0C6954-5EF5-0769-11D8-E5623CDC68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840019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17" name="Textplatzhalter 19">
            <a:extLst>
              <a:ext uri="{FF2B5EF4-FFF2-40B4-BE49-F238E27FC236}">
                <a16:creationId xmlns:a16="http://schemas.microsoft.com/office/drawing/2014/main" id="{0A7C0463-46E8-836A-425E-520EE1E615D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4840019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C80B01A0-93F7-8C78-C116-4B30F7A3B9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840019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4B9D98AF-1F3D-E6FE-682D-C08B6C85CD0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840019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5266AE98-2AD7-78F9-F979-0AC39C63E0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8353518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103720EB-D9B6-49AD-DF01-D193E5155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8353518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14B46577-2EBD-2125-A9B1-28F7ACDD530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353518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E561053D-76BE-23F3-9423-B6FE0032BED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8353518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EF6677A-F4D2-D988-1B88-65B4A67BFD6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8353518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DE42BCAA-0097-FC55-9E39-E2DA01AB821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8353518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6DE7A2C-5491-28D9-D730-45BA7DE21B09}"/>
              </a:ext>
            </a:extLst>
          </p:cNvPr>
          <p:cNvCxnSpPr>
            <a:cxnSpLocks/>
          </p:cNvCxnSpPr>
          <p:nvPr/>
        </p:nvCxnSpPr>
        <p:spPr bwMode="gray">
          <a:xfrm flipH="1">
            <a:off x="9343662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816C62-917C-832A-5714-28DA0ACBF116}"/>
              </a:ext>
            </a:extLst>
          </p:cNvPr>
          <p:cNvCxnSpPr>
            <a:cxnSpLocks/>
          </p:cNvCxnSpPr>
          <p:nvPr/>
        </p:nvCxnSpPr>
        <p:spPr bwMode="gray">
          <a:xfrm flipH="1">
            <a:off x="5830163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7EF6E77-3587-D7D8-89F9-A87572A52709}"/>
              </a:ext>
            </a:extLst>
          </p:cNvPr>
          <p:cNvCxnSpPr>
            <a:cxnSpLocks/>
          </p:cNvCxnSpPr>
          <p:nvPr/>
        </p:nvCxnSpPr>
        <p:spPr bwMode="gray">
          <a:xfrm flipH="1">
            <a:off x="2316664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1679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ontac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Bild">
            <a:extLst>
              <a:ext uri="{FF2B5EF4-FFF2-40B4-BE49-F238E27FC236}">
                <a16:creationId xmlns:a16="http://schemas.microsoft.com/office/drawing/2014/main" id="{16F42730-80E4-1B1B-17CC-09DD2547C8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849755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A939BA7A-C2B6-B9E0-A193-6357236B0D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73377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872571A5-732F-3D9E-6B4D-53CD31A3E0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73377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5" name="Textplatzhalter 19">
            <a:extLst>
              <a:ext uri="{FF2B5EF4-FFF2-40B4-BE49-F238E27FC236}">
                <a16:creationId xmlns:a16="http://schemas.microsoft.com/office/drawing/2014/main" id="{6788012F-3E41-D655-3CE5-5DFD616E5D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73377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58F5FD8B-4ED7-0B49-D043-DA4AB5508D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73377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4BB89FE6-D2B8-921A-6FAE-AC998BE600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73377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61275AD2-D3C0-38A7-9367-2B930FAF65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3377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20412483-972D-CC27-6764-E5EC7D46065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6405279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7A76F2C5-F2BC-1C10-AF54-2E6E5600225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3627517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Bild">
            <a:extLst>
              <a:ext uri="{FF2B5EF4-FFF2-40B4-BE49-F238E27FC236}">
                <a16:creationId xmlns:a16="http://schemas.microsoft.com/office/drawing/2014/main" id="{31975331-6B09-E7CE-F3DB-8C3FCD3B129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9183040" y="1719468"/>
            <a:ext cx="2158392" cy="2158204"/>
          </a:xfrm>
          <a:prstGeom prst="ellipse">
            <a:avLst/>
          </a:prstGeom>
          <a:solidFill>
            <a:schemeClr val="accent6"/>
          </a:solidFill>
        </p:spPr>
        <p:txBody>
          <a:bodyPr lIns="144000" tIns="144000" rIns="144000" bIns="144000"/>
          <a:lstStyle>
            <a:lvl1pPr marL="0" indent="0">
              <a:buNone/>
              <a:defRPr sz="1100"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F3E5FC0E-EF90-B021-52B2-0C1414C429D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3451139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89AE2A50-7EBD-6DC8-F352-D68DFD88E01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451139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17" name="Textplatzhalter 19">
            <a:extLst>
              <a:ext uri="{FF2B5EF4-FFF2-40B4-BE49-F238E27FC236}">
                <a16:creationId xmlns:a16="http://schemas.microsoft.com/office/drawing/2014/main" id="{C64E8E40-1BCF-E2D4-0C28-A618217D24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451139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2A5D2E15-3913-600B-A8E7-01CD5A6376B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3451139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161D927A-3270-4618-BD8D-F8F3C7F146A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3451139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9FD7A3D-D4F1-7AF5-6EAE-90907F3279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3451139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78FA88C9-C022-EA4F-DBB9-329D4DD284A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28901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523D24B7-3575-BF51-9C96-A605746B936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228901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D0A4412B-D399-9DC1-1EDD-AB58F5B659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228901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A69D7E2-534B-74ED-FE81-DB9ECE211A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228901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C5F86150-5752-71F1-CED6-0E3F1ABACCF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6228901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830AEDA0-5D4D-3F13-89C3-95D8541436B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6228901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6BFB1882-F1D8-A85C-B839-ACF2C4545C7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006662" y="4463802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D66D50FF-8651-7C92-87EE-7F052014F73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006662" y="4686846"/>
            <a:ext cx="2511148" cy="199671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Section</a:t>
            </a:r>
            <a:endParaRPr lang="de-DE"/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5AD2339-B0CC-988A-7A70-B4653D123BD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9006662" y="4156615"/>
            <a:ext cx="2511148" cy="28691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John </a:t>
            </a:r>
            <a:r>
              <a:rPr lang="de-DE" err="1"/>
              <a:t>Doe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1AE5C333-5F10-F2AC-AC41-4C02A80F0E9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9006662" y="5401450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Web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3E499F00-EF00-009C-6FDC-F2713C718F8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9006662" y="55665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E-Mail</a:t>
            </a:r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4BB8561-C701-C5AD-1868-E39E13B2D48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9006662" y="5731651"/>
            <a:ext cx="2511148" cy="145909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Phone</a:t>
            </a: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355D6BC-5C62-6586-EC58-C6E319705193}"/>
              </a:ext>
            </a:extLst>
          </p:cNvPr>
          <p:cNvCxnSpPr>
            <a:cxnSpLocks/>
          </p:cNvCxnSpPr>
          <p:nvPr/>
        </p:nvCxnSpPr>
        <p:spPr bwMode="gray">
          <a:xfrm flipH="1">
            <a:off x="4441283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AAECC0A-4739-F741-0C36-5CD62BD48454}"/>
              </a:ext>
            </a:extLst>
          </p:cNvPr>
          <p:cNvCxnSpPr>
            <a:cxnSpLocks/>
          </p:cNvCxnSpPr>
          <p:nvPr/>
        </p:nvCxnSpPr>
        <p:spPr bwMode="gray">
          <a:xfrm flipH="1">
            <a:off x="1663521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672ADE9-C022-6E2D-A922-90B786298FF9}"/>
              </a:ext>
            </a:extLst>
          </p:cNvPr>
          <p:cNvCxnSpPr>
            <a:cxnSpLocks/>
          </p:cNvCxnSpPr>
          <p:nvPr/>
        </p:nvCxnSpPr>
        <p:spPr bwMode="gray">
          <a:xfrm flipH="1">
            <a:off x="7219045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A0D3050-60E7-9E5A-1500-FF89FCFA08FD}"/>
              </a:ext>
            </a:extLst>
          </p:cNvPr>
          <p:cNvCxnSpPr>
            <a:cxnSpLocks/>
          </p:cNvCxnSpPr>
          <p:nvPr/>
        </p:nvCxnSpPr>
        <p:spPr bwMode="gray">
          <a:xfrm flipH="1">
            <a:off x="9996806" y="5138420"/>
            <a:ext cx="530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5925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NTT DATA Global Logo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272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_Closing Slide Navy Dark with picture dar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2240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novation Curve">
            <a:extLst>
              <a:ext uri="{FF2B5EF4-FFF2-40B4-BE49-F238E27FC236}">
                <a16:creationId xmlns:a16="http://schemas.microsoft.com/office/drawing/2014/main" id="{9211F747-506E-5ED4-9B68-EE6B3F99C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1" y="-14747"/>
            <a:ext cx="6872748" cy="687274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506BD0E-4DCD-8BA9-2037-DE975A1F09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843463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D68B773-8219-9567-613E-7A2F2D4F6C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2"/>
            <a:ext cx="4843463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B553D8-6E2B-127F-58DE-5165236A2DF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6" y="6563359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B14738AE-80B9-4DF5-8C32-EEAF79201B7D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53B208-9097-2E2C-EC03-BD8A67670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Infobox">
            <a:extLst>
              <a:ext uri="{FF2B5EF4-FFF2-40B4-BE49-F238E27FC236}">
                <a16:creationId xmlns:a16="http://schemas.microsoft.com/office/drawing/2014/main" id="{A9C6AF59-6EED-3416-511A-B314E0EE63F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80" y="333377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7CD756B-D053-7A46-EC8E-FF1D6BF1F7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20040"/>
            <a:ext cx="1959943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933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novation Curve">
            <a:extLst>
              <a:ext uri="{FF2B5EF4-FFF2-40B4-BE49-F238E27FC236}">
                <a16:creationId xmlns:a16="http://schemas.microsoft.com/office/drawing/2014/main" id="{00ADE50C-F63B-648C-9FD0-E0FA384DF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2ADFA92-0E48-355A-2DA8-D40523A9A8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9" y="2438400"/>
            <a:ext cx="6969876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8B12889-37ED-D704-59B8-7CECF20BCF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9" y="3810002"/>
            <a:ext cx="6969876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5333B3-E5F2-A1A8-F59F-D7085B34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2" name="Infobox">
            <a:extLst>
              <a:ext uri="{FF2B5EF4-FFF2-40B4-BE49-F238E27FC236}">
                <a16:creationId xmlns:a16="http://schemas.microsoft.com/office/drawing/2014/main" id="{99F6DF13-500C-7129-4398-DDCA3991550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475" y="899720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0FCC36-8879-E02B-48F4-D31C54AAA16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6" y="6563359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fld id="{E7815F5A-4F53-45FF-A264-7584CCCF751C}" type="datetime1">
              <a:rPr lang="en-US" smtClean="0"/>
              <a:t>2/20/2026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696BBEF-690F-3F5E-4ABD-464267D369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20040"/>
            <a:ext cx="1959943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290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_Cover_Light_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CCA6BB-2FF1-1F79-CE75-4214597FB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FBC9B23-4469-4B26-BEC9-4E111C2B8F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2"/>
            <a:ext cx="11440477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6E1903-FF29-7A88-0707-803367E5E51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6" y="6563359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fld id="{37156370-FCEB-44CC-81B4-7A2C3F3F103A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6BE1-1DE6-82D8-B7EF-529F2205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2" name="Infobox">
            <a:extLst>
              <a:ext uri="{FF2B5EF4-FFF2-40B4-BE49-F238E27FC236}">
                <a16:creationId xmlns:a16="http://schemas.microsoft.com/office/drawing/2014/main" id="{7460FF67-E88C-345F-912C-69776540AF2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80" y="333377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F900288-9276-0271-5B36-DA597F55D4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320040"/>
            <a:ext cx="1959943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830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Cover_Light_Imag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377" indent="0">
              <a:buNone/>
              <a:defRPr>
                <a:noFill/>
              </a:defRPr>
            </a:lvl3pPr>
            <a:lvl4pPr marL="1371566" indent="0">
              <a:buNone/>
              <a:defRPr>
                <a:noFill/>
              </a:defRPr>
            </a:lvl4pPr>
            <a:lvl5pPr marL="1828754" indent="0">
              <a:buNone/>
              <a:defRPr>
                <a:noFill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7" y="2050183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  <a:lvl2pPr marL="457189" indent="0">
              <a:buFont typeface="Arial" panose="020B0604020202020204" pitchFamily="34" charset="0"/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1" cy="651611"/>
          </a:xfrm>
        </p:spPr>
        <p:txBody>
          <a:bodyPr/>
          <a:lstStyle>
            <a:lvl1pPr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Innovationcurve">
            <a:extLst>
              <a:ext uri="{FF2B5EF4-FFF2-40B4-BE49-F238E27FC236}">
                <a16:creationId xmlns:a16="http://schemas.microsoft.com/office/drawing/2014/main" id="{0E296AC8-E4D5-3A7F-3C42-CC289AAB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67801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26140" y="3147302"/>
            <a:ext cx="7943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fld id="{A268B8C7-6FA6-4C6C-B728-F769008D3BCD}" type="datetime1">
              <a:rPr lang="en-US" smtClean="0"/>
              <a:t>2/20/2026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2"/>
            <a:ext cx="512349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2" name="Infobox">
            <a:extLst>
              <a:ext uri="{FF2B5EF4-FFF2-40B4-BE49-F238E27FC236}">
                <a16:creationId xmlns:a16="http://schemas.microsoft.com/office/drawing/2014/main" id="{979EC8F5-DC72-37F6-85BB-C3ADC50D2D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80" y="333377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93955C0C-38C4-366F-0C4D-7A71C122ED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20040"/>
            <a:ext cx="1959943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932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041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650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6"/>
            <a:ext cx="5507851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6"/>
            <a:ext cx="5507851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041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1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6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6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6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98023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6"/>
            <a:ext cx="11449051" cy="3600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6" y="1412876"/>
            <a:ext cx="11449049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1" cy="28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038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Blank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3936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Blank_Ligh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270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Picture Fu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chemeClr val="bg1"/>
          </a:solidFill>
        </p:spPr>
        <p:txBody>
          <a:bodyPr anchor="ctr" anchorCtr="0"/>
          <a:lstStyle>
            <a:lvl1pPr algn="ctr"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1"/>
            <a:ext cx="12192000" cy="16637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33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AAC9A100-4458-748B-AE62-3E3DB5DF4514}"/>
              </a:ext>
            </a:extLst>
          </p:cNvPr>
          <p:cNvSpPr txBox="1">
            <a:spLocks noChangeAspect="1"/>
          </p:cNvSpPr>
          <p:nvPr/>
        </p:nvSpPr>
        <p:spPr bwMode="black">
          <a:xfrm>
            <a:off x="10531725" y="6449438"/>
            <a:ext cx="1288800" cy="263108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93623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Picture Righ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33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7480439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082467D-38B1-0541-A8E7-DD846D36F5B1}"/>
              </a:ext>
            </a:extLst>
          </p:cNvPr>
          <p:cNvSpPr txBox="1">
            <a:spLocks noChangeAspect="1"/>
          </p:cNvSpPr>
          <p:nvPr/>
        </p:nvSpPr>
        <p:spPr bwMode="black">
          <a:xfrm>
            <a:off x="10531725" y="6449438"/>
            <a:ext cx="1288800" cy="263108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7115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7233616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9629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33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338957" y="6563359"/>
            <a:ext cx="35248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</p:spTree>
    <p:extLst>
      <p:ext uri="{BB962C8B-B14F-4D97-AF65-F5344CB8AC3E}">
        <p14:creationId xmlns:p14="http://schemas.microsoft.com/office/powerpoint/2010/main" val="3948159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Bottom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33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1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331DD0DE-B5CC-A60D-D998-80C96B7B6CAD}"/>
              </a:ext>
            </a:extLst>
          </p:cNvPr>
          <p:cNvSpPr txBox="1">
            <a:spLocks noChangeAspect="1"/>
          </p:cNvSpPr>
          <p:nvPr/>
        </p:nvSpPr>
        <p:spPr bwMode="black">
          <a:xfrm>
            <a:off x="10531725" y="6449438"/>
            <a:ext cx="1288800" cy="263108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5509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s Thre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2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6001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60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Coll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7780" y="3987605"/>
            <a:ext cx="5371355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4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9319" y="2163387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6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4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49319" y="2140171"/>
            <a:ext cx="2484124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4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6" y="2422523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7"/>
            <a:ext cx="4347085" cy="35556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6"/>
            <a:ext cx="24741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8" y="3744197"/>
            <a:ext cx="2474099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3987605"/>
            <a:ext cx="3420269" cy="224968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80" y="5399589"/>
            <a:ext cx="5371355" cy="83769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49319" y="4926697"/>
            <a:ext cx="2471207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051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103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Closing Slide Whi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01F40004-0B55-0534-B49E-3160E9FA2E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3288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851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_Closing Slide Future Blue with Picture L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98CC4E28-4615-54DE-9A23-19AE8504C32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black">
          <a:xfrm>
            <a:off x="3403200" y="2879267"/>
            <a:ext cx="5385600" cy="1099468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B17ABEB-CE11-6DFE-1EDF-82662ED8C9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26521295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Divider_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33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1" y="6563359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3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086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Divider_InnovationCurve on Righ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8E54CF47-5670-1E36-A01C-CE6BD5FD4E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200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Divider_Innovation Curve 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7"/>
            <a:ext cx="7315200" cy="3739084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218376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E44EF5E-6648-1398-B4E7-717D749EE98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75" y="2447060"/>
            <a:ext cx="3718800" cy="3718800"/>
          </a:xfrm>
          <a:prstGeom prst="rect">
            <a:avLst/>
          </a:prstGeom>
        </p:spPr>
      </p:pic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74CB7FF-BF38-583F-EB84-775D76F699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475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6593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5690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59" imgH="360" progId="TCLayout.ActiveDocument.1">
                  <p:embed/>
                </p:oleObj>
              </mc:Choice>
              <mc:Fallback>
                <p:oleObj name="think-cell Foli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69034" y="3489098"/>
            <a:ext cx="7828271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61974" y="1822603"/>
            <a:ext cx="10319625" cy="1231106"/>
          </a:xfrm>
        </p:spPr>
        <p:txBody>
          <a:bodyPr vert="horz"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223767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17. Februar 2021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  <p:sp>
        <p:nvSpPr>
          <p:cNvPr id="16" name="Textfeld 8"/>
          <p:cNvSpPr txBox="1"/>
          <p:nvPr userDrawn="1"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755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03563B5-0599-3BA7-79EC-3EEE8A647B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745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03563B5-0599-3BA7-79EC-3EEE8A647B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C108B5-CC41-3FAB-2AB2-A1A4187A1851}"/>
              </a:ext>
            </a:extLst>
          </p:cNvPr>
          <p:cNvSpPr txBox="1"/>
          <p:nvPr userDrawn="1"/>
        </p:nvSpPr>
        <p:spPr>
          <a:xfrm>
            <a:off x="544946" y="1865745"/>
            <a:ext cx="993862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rtl="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100000"/>
            </a:pPr>
            <a:r>
              <a:rPr lang="de-DE" sz="3200" b="1" noProof="0">
                <a:latin typeface="+mn-lt"/>
                <a:cs typeface="Arial Narrow" pitchFamily="34" charset="0"/>
              </a:rPr>
              <a:t>Inhalt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6FB351-9ADC-5BD5-0E3E-3C3828BDC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06614" y="1883785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1.	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2F2557D-899E-51D7-257D-ED9E0BCADF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53158" y="1883785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 noProof="0"/>
              <a:t>Kapitel (Calibri 24 </a:t>
            </a:r>
            <a:r>
              <a:rPr lang="de-DE" noProof="0" err="1"/>
              <a:t>pt</a:t>
            </a:r>
            <a:r>
              <a:rPr lang="de-DE" noProof="0"/>
              <a:t>)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12C45F-0E46-6A48-085C-F795AB2AB4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6614" y="2308943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1.1	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BABD49E-177A-3BBE-BE08-1B8ABD548A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3158" y="2308943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5F94952-AF30-0438-E6C1-68323C445D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6614" y="2734101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1.2	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5C689E4-03E3-D096-3713-034280DAE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53158" y="2734101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EC83DFE-1E1A-B95A-EB4C-E9711D0735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06614" y="3159259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2.	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5D246BD-4161-65D4-25E2-F28F3B677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53158" y="3159259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3B6633C-1982-25F8-AEFA-C50C167373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614" y="3584417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2.1	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CE49C0D-54A5-B847-A7B2-D6BC44A156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53158" y="3584417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1CB7C4BE-2B55-C4E0-1FA1-3F01BC4C2A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06614" y="4009575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2.2	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51CC4F59-C2FB-8070-F65F-D6D16FA16A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53158" y="4009575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93782AF-FD07-346E-F722-CA472D954F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6614" y="4434733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3.	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3CA8525-EA98-1EDB-CDE0-D5C2217449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53158" y="4434733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89D21CE-25AC-E311-AB39-9D70D779D7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06614" y="4859891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3.1	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293DDA3-0AA0-E2E4-7E55-95FD41400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53158" y="4859891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4288E6E-03BA-7628-8833-3625854B29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06614" y="5285049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3.2	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62083437-B171-683C-D7FF-FC26B99877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3158" y="5285049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C8142B0-714C-3AE7-ADC7-9B957DDF4B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06614" y="5710207"/>
            <a:ext cx="470332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4.	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E506ED-BC21-724C-A9C5-622BCDCE8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53158" y="5710207"/>
            <a:ext cx="8736877" cy="343492"/>
          </a:xfrm>
        </p:spPr>
        <p:txBody>
          <a:bodyPr/>
          <a:lstStyle>
            <a:lvl1pPr marL="433388" indent="-433388" rtl="0">
              <a:defRPr sz="2400"/>
            </a:lvl1pPr>
          </a:lstStyle>
          <a:p>
            <a:pPr lvl="0"/>
            <a:r>
              <a:rPr lang="de-DE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52456282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lb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376754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59" imgH="360" progId="TCLayout.ActiveDocument.1">
                  <p:embed/>
                </p:oleObj>
              </mc:Choice>
              <mc:Fallback>
                <p:oleObj name="think-cell Foli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89" y="757421"/>
            <a:ext cx="7028267" cy="1020579"/>
          </a:xfrm>
        </p:spPr>
        <p:txBody>
          <a:bodyPr vert="horz"/>
          <a:lstStyle>
            <a:lvl1pPr>
              <a:tabLst>
                <a:tab pos="1252570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 (Calibri 36 </a:t>
            </a:r>
            <a:r>
              <a:rPr lang="de-DE" err="1"/>
              <a:t>pt</a:t>
            </a:r>
            <a:r>
              <a:rPr lang="de-DE"/>
              <a:t> fett)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E2720-B9A2-9E3C-AD71-3584B16C7A48}"/>
              </a:ext>
            </a:extLst>
          </p:cNvPr>
          <p:cNvSpPr/>
          <p:nvPr userDrawn="1"/>
        </p:nvSpPr>
        <p:spPr bwMode="gray">
          <a:xfrm>
            <a:off x="8128000" y="0"/>
            <a:ext cx="4064000" cy="6858000"/>
          </a:xfrm>
          <a:prstGeom prst="rect">
            <a:avLst/>
          </a:prstGeom>
          <a:solidFill>
            <a:schemeClr val="accent4"/>
          </a:solidFill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l"/>
            <a:endParaRPr lang="en-US" sz="1400" b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D63297-0C26-48A5-B644-7F53C624E9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2862" y="1946978"/>
            <a:ext cx="7022994" cy="120411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sym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  <a:sym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  <a:sym typeface="+mn-lt"/>
              </a:defRPr>
            </a:lvl3pPr>
            <a:lvl4pPr marL="685800" indent="-19050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(Calibri 18 </a:t>
            </a:r>
            <a:r>
              <a:rPr lang="de-DE" err="1"/>
              <a:t>pt</a:t>
            </a:r>
            <a:r>
              <a:rPr lang="de-DE"/>
              <a:t>)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Text (Calibri 14 </a:t>
            </a:r>
            <a:r>
              <a:rPr lang="de-DE" err="1"/>
              <a:t>pt</a:t>
            </a:r>
            <a:r>
              <a:rPr lang="de-DE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42031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96057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59" imgH="360" progId="TCLayout.ActiveDocument.1">
                  <p:embed/>
                </p:oleObj>
              </mc:Choice>
              <mc:Fallback>
                <p:oleObj name="think-cell Foli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48C341D-522A-2EC8-84CA-52DA3F144E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0"/>
            <a:ext cx="4064000" cy="6858000"/>
          </a:xfrm>
          <a:solidFill>
            <a:schemeClr val="accent5"/>
          </a:solidFill>
        </p:spPr>
        <p:txBody>
          <a:bodyPr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0" y="757421"/>
            <a:ext cx="7028266" cy="1020579"/>
          </a:xfrm>
        </p:spPr>
        <p:txBody>
          <a:bodyPr vert="horz"/>
          <a:lstStyle>
            <a:lvl1pPr>
              <a:tabLst>
                <a:tab pos="1252570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 (Calibri 36 </a:t>
            </a:r>
            <a:r>
              <a:rPr lang="de-DE" err="1"/>
              <a:t>pt</a:t>
            </a:r>
            <a:r>
              <a:rPr lang="de-DE"/>
              <a:t> fett)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046CC5E-E482-42C0-9864-63294E994E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2862" y="1946978"/>
            <a:ext cx="7022994" cy="120411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sym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  <a:sym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  <a:sym typeface="+mn-lt"/>
              </a:defRPr>
            </a:lvl3pPr>
            <a:lvl4pPr marL="685800" indent="-190500">
              <a:buFont typeface="Arial" panose="020B0604020202020204" pitchFamily="34" charset="0"/>
              <a:buChar char="•"/>
              <a:defRPr lang="de-DE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de-DE"/>
              <a:t>Textplatzhalter (Calibri 18 </a:t>
            </a:r>
            <a:r>
              <a:rPr lang="de-DE" err="1"/>
              <a:t>pt</a:t>
            </a:r>
            <a:r>
              <a:rPr lang="de-DE"/>
              <a:t>)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Text (Calibri 14 </a:t>
            </a:r>
            <a:r>
              <a:rPr lang="de-DE" err="1"/>
              <a:t>pt</a:t>
            </a:r>
            <a:r>
              <a:rPr lang="de-DE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571594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D04109D-0A8E-4CD7-08A0-DA39AB651D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843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D04109D-0A8E-4CD7-08A0-DA39AB651D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0" y="757421"/>
            <a:ext cx="11066688" cy="1020579"/>
          </a:xfrm>
        </p:spPr>
        <p:txBody>
          <a:bodyPr vert="horz"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 (Calibri 36 </a:t>
            </a:r>
            <a:r>
              <a:rPr lang="de-DE" err="1"/>
              <a:t>pt</a:t>
            </a:r>
            <a:r>
              <a:rPr lang="de-DE"/>
              <a:t> fett)</a:t>
            </a:r>
          </a:p>
        </p:txBody>
      </p:sp>
    </p:spTree>
    <p:extLst>
      <p:ext uri="{BB962C8B-B14F-4D97-AF65-F5344CB8AC3E}">
        <p14:creationId xmlns:p14="http://schemas.microsoft.com/office/powerpoint/2010/main" val="3155405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A3D432A-15A7-988A-BAA7-D7DBA7E18F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9188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3D432A-15A7-988A-BAA7-D7DBA7E18F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0" y="757421"/>
            <a:ext cx="11066688" cy="1020579"/>
          </a:xfrm>
        </p:spPr>
        <p:txBody>
          <a:bodyPr vert="horz"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 (Calibri 36 </a:t>
            </a:r>
            <a:r>
              <a:rPr lang="de-DE" err="1"/>
              <a:t>pt</a:t>
            </a:r>
            <a:r>
              <a:rPr lang="de-DE"/>
              <a:t> fett)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CF70618-0498-45B2-A563-FD5C8E43DA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2862" y="1946978"/>
            <a:ext cx="11061416" cy="120411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sym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  <a:sym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  <a:sym typeface="+mn-lt"/>
              </a:defRPr>
            </a:lvl3pPr>
            <a:lvl4pPr marL="685800" indent="-19050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(Calibri 18 </a:t>
            </a:r>
            <a:r>
              <a:rPr lang="de-DE" err="1"/>
              <a:t>pt</a:t>
            </a:r>
            <a:r>
              <a:rPr lang="de-DE"/>
              <a:t>)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Text (Calibri 14 </a:t>
            </a:r>
            <a:r>
              <a:rPr lang="de-DE" err="1"/>
              <a:t>pt</a:t>
            </a:r>
            <a:r>
              <a:rPr lang="de-DE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35161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el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34545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9" imgH="360" progId="TCLayout.ActiveDocument.1">
                  <p:embed/>
                </p:oleObj>
              </mc:Choice>
              <mc:Fallback>
                <p:oleObj name="think-cell Foli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785687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31367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138921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9" imgH="360" progId="TCLayout.ActiveDocument.1">
                  <p:embed/>
                </p:oleObj>
              </mc:Choice>
              <mc:Fallback>
                <p:oleObj name="think-cell Foli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4917326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78249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104409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7CDB30-A0DA-1339-4820-86A8A9EC12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>
            <a:noAutofit/>
          </a:bodyPr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3265EA-C1C4-D9B5-1B28-6F4F0AD067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7100" y="1854200"/>
            <a:ext cx="5168900" cy="1030410"/>
          </a:xfrm>
        </p:spPr>
        <p:txBody>
          <a:bodyPr/>
          <a:lstStyle>
            <a:lvl1pPr>
              <a:defRPr sz="3600" b="1"/>
            </a:lvl1pPr>
            <a:lvl5pPr>
              <a:defRPr/>
            </a:lvl5pPr>
          </a:lstStyle>
          <a:p>
            <a:pPr lvl="0"/>
            <a:r>
              <a:rPr lang="en-US"/>
              <a:t>Statement </a:t>
            </a:r>
            <a:br>
              <a:rPr lang="en-US"/>
            </a:br>
            <a:r>
              <a:rPr lang="de-DE"/>
              <a:t>(Calibri 36 </a:t>
            </a:r>
            <a:r>
              <a:rPr lang="de-DE" err="1"/>
              <a:t>pt</a:t>
            </a:r>
            <a:r>
              <a:rPr lang="de-DE"/>
              <a:t> fett)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79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3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2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7843-CEB7-0EE1-0E00-6F2A60DAA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72619F-5D3A-CC63-BA47-78E82E3FB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DBBC17-84E0-BA2C-5BAF-3D3E05C3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DB39-8B11-4B69-A585-0004731A3FAC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8AA8E-AD12-8FA0-72DF-E15A8782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D4CCBF-A7F0-AF2C-6A67-667E3CD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33FB-0D9A-4C2C-8A32-6D17ADC88F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71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29" Type="http://schemas.openxmlformats.org/officeDocument/2006/relationships/oleObject" Target="../embeddings/oleObject2.bin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image" Target="../media/image13.svg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image" Target="../media/image12.png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theme" Target="../theme/theme2.xml"/><Relationship Id="rId30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image" Target="../media/image3.svg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theme" Target="../theme/theme3.xml"/><Relationship Id="rId28" Type="http://schemas.openxmlformats.org/officeDocument/2006/relationships/image" Target="../media/image17.emf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77.xml"/><Relationship Id="rId16" Type="http://schemas.openxmlformats.org/officeDocument/2006/relationships/image" Target="../media/image24.emf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23.emf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F45D11-940A-7204-055D-8007056C40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187658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0" imgW="347" imgH="348" progId="TCLayout.ActiveDocument.1">
                  <p:embed/>
                </p:oleObj>
              </mc:Choice>
              <mc:Fallback>
                <p:oleObj name="think-cell Folie" r:id="rId30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F45D11-940A-7204-055D-8007056C4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4632A-2918-4D07-821E-9CC4B7A378D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46253"/>
            <a:ext cx="4852035" cy="1231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spAutoFit/>
          </a:bodyPr>
          <a:lstStyle>
            <a:lvl1pPr algn="l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fld id="{38119B68-172D-4754-9C74-89B72DD8CDBC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NTT DATA Logo">
            <a:extLst>
              <a:ext uri="{FF2B5EF4-FFF2-40B4-BE49-F238E27FC236}">
                <a16:creationId xmlns:a16="http://schemas.microsoft.com/office/drawing/2014/main" id="{1DB40E02-E43E-21B5-7D2A-60B35F0977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9808859-6D2A-52CE-274E-F0BA30CEBF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793347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9" imgW="347" imgH="348" progId="TCLayout.ActiveDocument.1">
                  <p:embed/>
                </p:oleObj>
              </mc:Choice>
              <mc:Fallback>
                <p:oleObj name="think-cell Folie" r:id="rId29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808859-6D2A-52CE-274E-F0BA30CEB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pic>
        <p:nvPicPr>
          <p:cNvPr id="14" name="NTT DATA Global Logo">
            <a:extLst>
              <a:ext uri="{FF2B5EF4-FFF2-40B4-BE49-F238E27FC236}">
                <a16:creationId xmlns:a16="http://schemas.microsoft.com/office/drawing/2014/main" id="{D3B22713-AB91-EF03-7CF0-CCF486815A3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8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»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»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1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4632A-2918-4D07-821E-9CC4B7A378D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6"/>
            <a:ext cx="11449051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6" y="6563359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2025 NTT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9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1DB40E02-E43E-21B5-7D2A-60B35F0977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531555" y="6449745"/>
            <a:ext cx="1288971" cy="262800"/>
          </a:xfrm>
          <a:prstGeom prst="rect">
            <a:avLst/>
          </a:prstGeom>
        </p:spPr>
      </p:pic>
      <p:graphicFrame>
        <p:nvGraphicFramePr>
          <p:cNvPr id="4" name="Object Align" hidden="1">
            <a:extLst>
              <a:ext uri="{FF2B5EF4-FFF2-40B4-BE49-F238E27FC236}">
                <a16:creationId xmlns:a16="http://schemas.microsoft.com/office/drawing/2014/main" id="{2409C08C-6580-A845-A257-7F092F05A48D}"/>
              </a:ext>
            </a:extLst>
          </p:cNvPr>
          <p:cNvGraphicFramePr>
            <a:graphicFrameLocks/>
          </p:cNvGraphicFramePr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686562232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7" imgW="299" imgH="299" progId="TCLayout.ActiveDocument.1">
                  <p:embed/>
                </p:oleObj>
              </mc:Choice>
              <mc:Fallback>
                <p:oleObj name="think-cell Folie" r:id="rId27" imgW="299" imgH="299" progId="TCLayout.ActiveDocument.1">
                  <p:embed/>
                  <p:pic>
                    <p:nvPicPr>
                      <p:cNvPr id="4" name="Object Align" hidden="1">
                        <a:extLst>
                          <a:ext uri="{FF2B5EF4-FFF2-40B4-BE49-F238E27FC236}">
                            <a16:creationId xmlns:a16="http://schemas.microsoft.com/office/drawing/2014/main" id="{2409C08C-6580-A845-A257-7F092F05A4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046211F-AB3A-E18C-1CF2-6ABEFC5DFDE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6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323139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15995" indent="-215995" algn="l" defTabSz="914377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2pPr>
      <a:lvl3pPr marL="431989" indent="-215995" algn="l" defTabSz="914377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647984" indent="-215995" algn="l" defTabSz="914377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863978" indent="-215995" algn="l" defTabSz="914377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377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5995" indent="-215995" algn="l" defTabSz="914377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1989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7984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3978" indent="-215995" algn="l" defTabSz="914377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8">
          <p15:clr>
            <a:srgbClr val="F26B43"/>
          </p15:clr>
        </p15:guide>
        <p15:guide id="3" orient="horz" pos="668">
          <p15:clr>
            <a:srgbClr val="F26B43"/>
          </p15:clr>
        </p15:guide>
        <p15:guide id="4" orient="horz" pos="2947">
          <p15:clr>
            <a:srgbClr val="F26B43"/>
          </p15:clr>
        </p15:guide>
        <p15:guide id="6" pos="2880">
          <p15:clr>
            <a:srgbClr val="F26B43"/>
          </p15:clr>
        </p15:guide>
        <p15:guide id="8" pos="558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84189320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270" imgH="270" progId="TCLayout.ActiveDocument.1">
                  <p:embed/>
                </p:oleObj>
              </mc:Choice>
              <mc:Fallback>
                <p:oleObj name="think-cell Folie" r:id="rId14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15068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423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862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7590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85"/>
            <a:ext cx="745632" cy="146050"/>
            <a:chOff x="738189" y="6195259"/>
            <a:chExt cx="605826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23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6639" y="6196726"/>
              <a:ext cx="307376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marL="0" marR="0" lvl="0" indent="0" defTabSz="914423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2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3000"/>
              </a:lnSpc>
              <a:buClr>
                <a:schemeClr val="tx1"/>
              </a:buClr>
              <a:buSzPct val="100000"/>
            </a:pPr>
            <a:r>
              <a:rPr lang="de-DE" sz="1800" b="0" err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Subline</a:t>
            </a:r>
            <a:endParaRPr lang="de-DE" sz="1800" b="0">
              <a:solidFill>
                <a:schemeClr val="tx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67590" y="1946978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(Calibri 18 </a:t>
            </a:r>
            <a:r>
              <a:rPr lang="de-DE" err="1"/>
              <a:t>pt</a:t>
            </a:r>
            <a:r>
              <a:rPr lang="de-DE"/>
              <a:t>)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0" y="757421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 Calibri 36 </a:t>
            </a:r>
            <a:r>
              <a:rPr lang="de-DE" noProof="0" err="1"/>
              <a:t>pt</a:t>
            </a:r>
            <a:r>
              <a:rPr lang="de-DE" noProof="0"/>
              <a:t> fett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0E8171-9B40-6FA5-DF52-85140393CEFC}"/>
              </a:ext>
            </a:extLst>
          </p:cNvPr>
          <p:cNvSpPr txBox="1"/>
          <p:nvPr userDrawn="1"/>
        </p:nvSpPr>
        <p:spPr>
          <a:xfrm>
            <a:off x="1643368" y="6469663"/>
            <a:ext cx="913712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ADN-Projekt.pptx</a:t>
            </a:r>
          </a:p>
        </p:txBody>
      </p:sp>
    </p:spTree>
    <p:extLst>
      <p:ext uri="{BB962C8B-B14F-4D97-AF65-F5344CB8AC3E}">
        <p14:creationId xmlns:p14="http://schemas.microsoft.com/office/powerpoint/2010/main" val="374246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 dt="0"/>
  <p:txStyles>
    <p:titleStyle>
      <a:lvl1pPr algn="l" defTabSz="914423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423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406" indent="-230406" algn="l" defTabSz="914423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412" indent="-234006" algn="l" defTabSz="914423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418" indent="-201605" algn="l" defTabSz="914423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418" indent="0" algn="l" defTabSz="914423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7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63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4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1226">
          <p15:clr>
            <a:srgbClr val="F26B43"/>
          </p15:clr>
        </p15:guide>
        <p15:guide id="4" orient="horz" pos="39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27.emf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4.xml"/><Relationship Id="rId6" Type="http://schemas.openxmlformats.org/officeDocument/2006/relationships/oleObject" Target="../embeddings/oleObject1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8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55C75BD-AF05-7701-AFE2-527BFCB88C4B}"/>
              </a:ext>
            </a:extLst>
          </p:cNvPr>
          <p:cNvCxnSpPr>
            <a:cxnSpLocks/>
          </p:cNvCxnSpPr>
          <p:nvPr/>
        </p:nvCxnSpPr>
        <p:spPr>
          <a:xfrm>
            <a:off x="6096000" y="1436285"/>
            <a:ext cx="0" cy="906972"/>
          </a:xfrm>
          <a:prstGeom prst="line">
            <a:avLst/>
          </a:prstGeom>
          <a:ln>
            <a:tailEnd type="non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0A16574-C96C-3DFE-C3A6-D844FDFB6997}"/>
              </a:ext>
            </a:extLst>
          </p:cNvPr>
          <p:cNvCxnSpPr>
            <a:cxnSpLocks/>
          </p:cNvCxnSpPr>
          <p:nvPr/>
        </p:nvCxnSpPr>
        <p:spPr>
          <a:xfrm>
            <a:off x="6095440" y="566716"/>
            <a:ext cx="0" cy="86400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C5887B28-4E17-0BBA-C02F-83AFFE467282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248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406" imgH="403" progId="TCLayout.ActiveDocument.1">
                  <p:embed/>
                </p:oleObj>
              </mc:Choice>
              <mc:Fallback>
                <p:oleObj name="think-cell Folie" r:id="rId6" imgW="406" imgH="403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87B28-4E17-0BBA-C02F-83AFFE4672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248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utoShape 12">
            <a:extLst>
              <a:ext uri="{FF2B5EF4-FFF2-40B4-BE49-F238E27FC236}">
                <a16:creationId xmlns:a16="http://schemas.microsoft.com/office/drawing/2014/main" id="{3FADDEC9-2C23-FF51-D17C-88A85BC9BB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25" y="2141483"/>
            <a:ext cx="9027862" cy="265090"/>
          </a:xfrm>
          <a:prstGeom prst="chevron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 w="28575" algn="ctr">
            <a:noFill/>
            <a:miter lim="800000"/>
            <a:headEnd/>
            <a:tailEnd/>
          </a:ln>
          <a:effectLst>
            <a:outerShdw blurRad="63500" sx="102000" sy="102000" algn="ctr" rotWithShape="0">
              <a:schemeClr val="tx2">
                <a:alpha val="40000"/>
              </a:schemeClr>
            </a:outerShdw>
          </a:effectLst>
        </p:spPr>
        <p:txBody>
          <a:bodyPr t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93194" algn="r"/>
              </a:tabLst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Leitung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Teilprojekt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ADN</a:t>
            </a:r>
          </a:p>
        </p:txBody>
      </p:sp>
      <p:sp>
        <p:nvSpPr>
          <p:cNvPr id="891908" name="Rectangle 4"/>
          <p:cNvSpPr>
            <a:spLocks noChangeArrowheads="1"/>
          </p:cNvSpPr>
          <p:nvPr/>
        </p:nvSpPr>
        <p:spPr bwMode="gray">
          <a:xfrm>
            <a:off x="7819082" y="2730944"/>
            <a:ext cx="2899086" cy="385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107110" tIns="107110" rIns="107110" bIns="10711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Johannes Cordes (PL) / Ferenz Lehner (Solution Architect) / Sina Jonitz (PMO)</a:t>
            </a:r>
          </a:p>
        </p:txBody>
      </p:sp>
      <p:sp>
        <p:nvSpPr>
          <p:cNvPr id="30" name="AutoShape 12">
            <a:extLst>
              <a:ext uri="{FF2B5EF4-FFF2-40B4-BE49-F238E27FC236}">
                <a16:creationId xmlns:a16="http://schemas.microsoft.com/office/drawing/2014/main" id="{E843563F-57FB-40BF-5B22-EB3530C53D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9078" y="2498564"/>
            <a:ext cx="2894711" cy="216000"/>
          </a:xfrm>
          <a:prstGeom prst="chevron">
            <a:avLst>
              <a:gd name="adj" fmla="val 0"/>
            </a:avLst>
          </a:prstGeom>
          <a:solidFill>
            <a:schemeClr val="accent3"/>
          </a:solidFill>
          <a:ln w="28575" algn="ctr">
            <a:noFill/>
            <a:miter lim="800000"/>
            <a:headEnd/>
            <a:tailEnd/>
          </a:ln>
          <a:effectLst/>
        </p:spPr>
        <p:txBody>
          <a:bodyPr t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93194" algn="r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NTT</a:t>
            </a:r>
          </a:p>
        </p:txBody>
      </p:sp>
      <p:sp>
        <p:nvSpPr>
          <p:cNvPr id="845834" name="Rectangle 10">
            <a:extLst>
              <a:ext uri="{FF2B5EF4-FFF2-40B4-BE49-F238E27FC236}">
                <a16:creationId xmlns:a16="http://schemas.microsoft.com/office/drawing/2014/main" id="{2370DAE5-4D9C-EFB5-EA41-0B5F44E21A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68933" y="916730"/>
            <a:ext cx="2888429" cy="35278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71981" tIns="71981" rIns="71981" bIns="71981" anchor="ctr"/>
          <a:lstStyle>
            <a:lvl1pPr>
              <a:spcBef>
                <a:spcPct val="75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spcBef>
                <a:spcPct val="25000"/>
              </a:spcBef>
              <a:buClr>
                <a:srgbClr val="F0AB00"/>
              </a:buClr>
              <a:buSzPct val="8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spcBef>
                <a:spcPct val="25000"/>
              </a:spcBef>
              <a:buClr>
                <a:srgbClr val="666666"/>
              </a:buClr>
              <a:buSzPct val="8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spcBef>
                <a:spcPct val="25000"/>
              </a:spcBef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spcBef>
                <a:spcPct val="15000"/>
              </a:spcBef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</a:rPr>
              <a:t>Programmleitung</a:t>
            </a:r>
            <a:r>
              <a: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</a:rPr>
              <a:t> Road to HANA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8D966D45-A600-E1DB-D9E9-9F2BC329A1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52501" y="2730941"/>
            <a:ext cx="2899091" cy="385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107110" tIns="107110" rIns="107110" bIns="10711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buClr>
                <a:srgbClr val="666666"/>
              </a:buClr>
              <a:buSzPct val="110000"/>
              <a:tabLst>
                <a:tab pos="1523238" algn="l"/>
                <a:tab pos="3614517" algn="r"/>
              </a:tabLst>
              <a:defRPr/>
            </a:pPr>
            <a:r>
              <a:rPr lang="en-US" sz="900" b="1">
                <a:solidFill>
                  <a:srgbClr val="CCCCCC">
                    <a:lumMod val="10000"/>
                  </a:srgbClr>
                </a:solidFill>
              </a:rPr>
              <a:t>Dr. Roland </a:t>
            </a:r>
            <a:r>
              <a:rPr lang="en-US" sz="900" b="1" err="1">
                <a:solidFill>
                  <a:srgbClr val="CCCCCC">
                    <a:lumMod val="10000"/>
                  </a:srgbClr>
                </a:solidFill>
              </a:rPr>
              <a:t>Stanienda</a:t>
            </a:r>
            <a:r>
              <a:rPr lang="en-US" sz="900" b="1">
                <a:solidFill>
                  <a:srgbClr val="CCCCCC">
                    <a:lumMod val="10000"/>
                  </a:srgbClr>
                </a:solidFill>
              </a:rPr>
              <a:t> ( PL)</a:t>
            </a:r>
            <a:endParaRPr lang="en-US" sz="900">
              <a:solidFill>
                <a:srgbClr val="CCCCCC">
                  <a:lumMod val="10000"/>
                </a:srgb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Stefanie Bauer (Change Management)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lang="en-US" sz="900" b="1">
                <a:solidFill>
                  <a:srgbClr val="CCCCCC">
                    <a:lumMod val="10000"/>
                  </a:srgbClr>
                </a:solidFill>
                <a:latin typeface="Calibri"/>
              </a:rPr>
              <a:t>Christian Jahn (Referent)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00131E32-305F-D62F-EDEB-50501D4176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56876" y="2498562"/>
            <a:ext cx="2894716" cy="216000"/>
          </a:xfrm>
          <a:prstGeom prst="chevron">
            <a:avLst>
              <a:gd name="adj" fmla="val 0"/>
            </a:avLst>
          </a:prstGeom>
          <a:solidFill>
            <a:srgbClr val="FFCF00"/>
          </a:solidFill>
          <a:ln w="28575" algn="ctr">
            <a:noFill/>
            <a:miter lim="800000"/>
            <a:headEnd/>
            <a:tailEnd/>
          </a:ln>
          <a:effectLst/>
        </p:spPr>
        <p:txBody>
          <a:bodyPr t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93194" algn="r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ADAC</a:t>
            </a:r>
          </a:p>
        </p:txBody>
      </p:sp>
      <p:sp>
        <p:nvSpPr>
          <p:cNvPr id="845824" name="Titel 2">
            <a:extLst>
              <a:ext uri="{FF2B5EF4-FFF2-40B4-BE49-F238E27FC236}">
                <a16:creationId xmlns:a16="http://schemas.microsoft.com/office/drawing/2014/main" id="{466C3769-E2AF-8447-4F8A-AAC0D6536400}"/>
              </a:ext>
            </a:extLst>
          </p:cNvPr>
          <p:cNvSpPr txBox="1">
            <a:spLocks/>
          </p:cNvSpPr>
          <p:nvPr/>
        </p:nvSpPr>
        <p:spPr>
          <a:xfrm>
            <a:off x="512905" y="210332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23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lang="en-US"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defRPr>
            </a:lvl1pPr>
          </a:lstStyle>
          <a:p>
            <a:pPr marL="0" marR="0" lvl="0" indent="0" algn="l" defTabSz="914423" rtl="0" eaLnBrk="1" fontAlgn="auto" latinLnBrk="0" hangingPunct="1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+mn-lt"/>
              </a:rPr>
              <a:t>ADAC: Road </a:t>
            </a:r>
            <a:r>
              <a:rPr kumimoji="0" lang="de-DE" sz="3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+mn-lt"/>
              </a:rPr>
              <a:t>to</a:t>
            </a: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+mn-lt"/>
              </a:rPr>
              <a:t> HANA – Teilprojekt F2H (Stand: September 2025)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8DD7729C-2221-7E77-3D74-C5513624B1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29" y="2730944"/>
            <a:ext cx="2899086" cy="385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107110" tIns="107110" rIns="107110" bIns="10711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en-US" sz="900" b="1" i="0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Sebastian </a:t>
            </a:r>
            <a:r>
              <a:rPr kumimoji="0" lang="en-US" sz="900" b="1" i="0" strike="noStrike" kern="1200" cap="none" spc="0" normalizeH="0" baseline="0" noProof="0" err="1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Wiedenhöft</a:t>
            </a:r>
            <a:r>
              <a:rPr kumimoji="0" lang="en-US" sz="900" b="1" i="0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(PL tech.)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 Sarah Müller (PL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kauf</a:t>
            </a:r>
            <a:r>
              <a:rPr lang="en-US" sz="900" b="1" err="1">
                <a:solidFill>
                  <a:srgbClr val="CCCCCC">
                    <a:lumMod val="10000"/>
                  </a:srgbClr>
                </a:solidFill>
                <a:latin typeface="Calibri"/>
              </a:rPr>
              <a:t>m</a:t>
            </a:r>
            <a:r>
              <a:rPr lang="en-US" sz="900" b="1">
                <a:solidFill>
                  <a:srgbClr val="CCCCCC">
                    <a:lumMod val="10000"/>
                  </a:srgbClr>
                </a:solidFill>
                <a:latin typeface="Calibri"/>
              </a:rPr>
              <a:t>.), Christiane Bohley (Principal)</a:t>
            </a:r>
            <a:br>
              <a:rPr lang="en-US" sz="9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</a:rPr>
            </a:b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Nabil Akel (PMO</a:t>
            </a:r>
            <a:r>
              <a:rPr lang="en-US" sz="900" b="1">
                <a:solidFill>
                  <a:srgbClr val="CCCCCC">
                    <a:lumMod val="10000"/>
                  </a:srgbClr>
                </a:solidFill>
                <a:latin typeface="Calibri"/>
              </a:rPr>
              <a:t>)</a:t>
            </a:r>
          </a:p>
        </p:txBody>
      </p:sp>
      <p:sp>
        <p:nvSpPr>
          <p:cNvPr id="26" name="AutoShape 12">
            <a:extLst>
              <a:ext uri="{FF2B5EF4-FFF2-40B4-BE49-F238E27FC236}">
                <a16:creationId xmlns:a16="http://schemas.microsoft.com/office/drawing/2014/main" id="{197DBA70-F60C-2BF6-4A51-5ACB0E6ACE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25" y="2498564"/>
            <a:ext cx="2894711" cy="216000"/>
          </a:xfrm>
          <a:prstGeom prst="chevron">
            <a:avLst>
              <a:gd name="adj" fmla="val 0"/>
            </a:avLst>
          </a:prstGeom>
          <a:solidFill>
            <a:srgbClr val="0070C0"/>
          </a:solidFill>
          <a:ln w="28575" algn="ctr">
            <a:noFill/>
            <a:miter lim="800000"/>
            <a:headEnd/>
            <a:tailEnd/>
          </a:ln>
          <a:effectLst/>
        </p:spPr>
        <p:txBody>
          <a:bodyPr t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93194" algn="r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ADN</a:t>
            </a:r>
          </a:p>
        </p:txBody>
      </p:sp>
      <p:sp>
        <p:nvSpPr>
          <p:cNvPr id="845825" name="Rectangle 17">
            <a:extLst>
              <a:ext uri="{FF2B5EF4-FFF2-40B4-BE49-F238E27FC236}">
                <a16:creationId xmlns:a16="http://schemas.microsoft.com/office/drawing/2014/main" id="{07299E0E-BD42-47BC-A500-5776EAE2EA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17" y="6014032"/>
            <a:ext cx="2894707" cy="3879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Bereich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Controlling</a:t>
            </a:r>
            <a:endParaRPr kumimoji="0" lang="de-DE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>
              <a:lnSpc>
                <a:spcPct val="100000"/>
              </a:lnSpc>
              <a:spcBef>
                <a:spcPct val="30000"/>
              </a:spcBef>
              <a:buClr>
                <a:srgbClr val="666666"/>
              </a:buClr>
              <a:buSzPct val="110000"/>
              <a:tabLst>
                <a:tab pos="1523238" algn="l"/>
                <a:tab pos="3614517" algn="r"/>
              </a:tabLst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Pham</a:t>
            </a:r>
            <a:r>
              <a:rPr lang="en-US" sz="900" dirty="0">
                <a:solidFill>
                  <a:srgbClr val="CCCCCC">
                    <a:lumMod val="10000"/>
                  </a:srgbClr>
                </a:solidFill>
                <a:latin typeface="Calibri"/>
              </a:rPr>
              <a:t>, Sonja Vitolo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45827" name="Rectangle 17">
            <a:extLst>
              <a:ext uri="{FF2B5EF4-FFF2-40B4-BE49-F238E27FC236}">
                <a16:creationId xmlns:a16="http://schemas.microsoft.com/office/drawing/2014/main" id="{FC745E36-D15C-1D48-DCCB-DF7C0463F5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20" y="5082132"/>
            <a:ext cx="2894707" cy="4432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Bereich &amp; FI &amp; </a:t>
            </a:r>
            <a:r>
              <a:rPr kumimoji="0" lang="de-DE" sz="9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Taxes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8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Stefanie </a:t>
            </a:r>
            <a:r>
              <a:rPr kumimoji="0" lang="de-DE" sz="800" b="0" i="0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Gawlitza</a:t>
            </a:r>
            <a:r>
              <a:rPr kumimoji="0" lang="de-DE" sz="8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Vladimir </a:t>
            </a:r>
            <a:r>
              <a:rPr kumimoji="0" lang="de-DE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Zaprianov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Marcus </a:t>
            </a:r>
            <a:r>
              <a:rPr kumimoji="0" lang="de-DE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Rendchen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 Carmen Hammon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45828" name="Rectangle 17">
            <a:extLst>
              <a:ext uri="{FF2B5EF4-FFF2-40B4-BE49-F238E27FC236}">
                <a16:creationId xmlns:a16="http://schemas.microsoft.com/office/drawing/2014/main" id="{3DEC9775-E482-9C9E-440C-FF2D8F3530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24" y="3161419"/>
            <a:ext cx="9036617" cy="4405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/ Technischer Stream / Berechtigungen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ADN: Sebastian Wiedenhöft, Christiane Bohley 		ADAC: Diana Dessau		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5831" name="Rectangle 17">
            <a:extLst>
              <a:ext uri="{FF2B5EF4-FFF2-40B4-BE49-F238E27FC236}">
                <a16:creationId xmlns:a16="http://schemas.microsoft.com/office/drawing/2014/main" id="{9B4918AA-48C3-6B81-0377-DA15682AD03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9075" y="5082131"/>
            <a:ext cx="2894708" cy="8760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Bereich FI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 Kasselmann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BA2CA505-727E-FBFA-8982-8EE514B17A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27834" y="6014032"/>
            <a:ext cx="2894708" cy="3879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Bereich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Controlling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 algn="ctr">
              <a:lnSpc>
                <a:spcPct val="100000"/>
              </a:lnSpc>
              <a:spcBef>
                <a:spcPct val="30000"/>
              </a:spcBef>
              <a:buClr>
                <a:srgbClr val="666666"/>
              </a:buClr>
              <a:buSzPct val="110000"/>
              <a:tabLst>
                <a:tab pos="1523238" algn="l"/>
                <a:tab pos="3614517" algn="r"/>
              </a:tabLst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Joachim Lenz / </a:t>
            </a:r>
            <a:r>
              <a:rPr lang="de-DE" sz="900">
                <a:solidFill>
                  <a:srgbClr val="000000"/>
                </a:solidFill>
                <a:latin typeface="Calibri"/>
              </a:rPr>
              <a:t>Veronika Mroczek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DCB686-6C2A-A742-8FC7-6AD35586A7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18" y="4644918"/>
            <a:ext cx="2894707" cy="3879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Migration (Artikel/Debitoren/Kreditoren usw.)</a:t>
            </a:r>
            <a:b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Vladimir </a:t>
            </a:r>
            <a:r>
              <a:rPr kumimoji="0" lang="de-DE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Zaprianov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/ Mirela </a:t>
            </a:r>
            <a:r>
              <a:rPr kumimoji="0" lang="de-DE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Dubresco</a:t>
            </a: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0349038C-DFF6-1508-D777-E075968D06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55194" y="5082130"/>
            <a:ext cx="2903467" cy="1319849"/>
          </a:xfrm>
          <a:prstGeom prst="chevron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Stream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(Abstimmung Delta zu Konzepten und Stammdaten)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Roland </a:t>
            </a:r>
            <a:r>
              <a:rPr kumimoji="0" lang="de-DE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Stanienda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</a:t>
            </a: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E268D8BD-505F-484E-A679-CF739A4BEA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2983" y="6640783"/>
            <a:ext cx="8732939" cy="131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algn="ctr" defTabSz="1088449">
              <a:lnSpc>
                <a:spcPct val="100000"/>
              </a:lnSpc>
              <a:spcBef>
                <a:spcPct val="0"/>
              </a:spcBef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/>
                <a:cs typeface="+mn-cs"/>
              </a:rPr>
              <a:t>*</a:t>
            </a:r>
            <a:r>
              <a:rPr lang="en-US" sz="1100">
                <a:solidFill>
                  <a:srgbClr val="000000"/>
                </a:solidFill>
                <a:latin typeface="Aptos"/>
                <a:ea typeface="Arial Unicode MS"/>
              </a:rPr>
              <a:t>Mit </a:t>
            </a:r>
            <a:r>
              <a:rPr lang="en-US" sz="1100" err="1">
                <a:solidFill>
                  <a:srgbClr val="000000"/>
                </a:solidFill>
                <a:latin typeface="Aptos"/>
                <a:ea typeface="Arial Unicode MS"/>
              </a:rPr>
              <a:t>Unterstützung</a:t>
            </a:r>
            <a:r>
              <a:rPr lang="en-US" sz="1100">
                <a:solidFill>
                  <a:srgbClr val="000000"/>
                </a:solidFill>
                <a:latin typeface="Aptos"/>
                <a:ea typeface="Arial Unicode MS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Aptos"/>
                <a:ea typeface="Arial Unicode MS"/>
              </a:rPr>
              <a:t>durch</a:t>
            </a:r>
            <a:r>
              <a:rPr lang="en-US" sz="1100">
                <a:solidFill>
                  <a:srgbClr val="000000"/>
                </a:solidFill>
                <a:latin typeface="Aptos"/>
                <a:ea typeface="Arial Unicode MS"/>
              </a:rPr>
              <a:t> die </a:t>
            </a:r>
            <a:r>
              <a:rPr lang="en-US" sz="1100" err="1">
                <a:solidFill>
                  <a:srgbClr val="000000"/>
                </a:solidFill>
                <a:latin typeface="Aptos"/>
                <a:ea typeface="Arial Unicode MS"/>
              </a:rPr>
              <a:t>entsprechenden</a:t>
            </a:r>
            <a:r>
              <a:rPr lang="en-US" sz="1100">
                <a:solidFill>
                  <a:srgbClr val="000000"/>
                </a:solidFill>
                <a:latin typeface="Aptos"/>
                <a:ea typeface="Arial Unicode MS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Aptos"/>
                <a:ea typeface="Arial Unicode MS"/>
              </a:rPr>
              <a:t>Experten</a:t>
            </a:r>
            <a:r>
              <a:rPr lang="en-US" sz="1100">
                <a:solidFill>
                  <a:srgbClr val="000000"/>
                </a:solidFill>
                <a:latin typeface="Aptos"/>
                <a:ea typeface="Arial Unicode MS"/>
              </a:rPr>
              <a:t> des ADAC</a:t>
            </a:r>
            <a:r>
              <a:rPr lang="en-US" sz="900" i="1">
                <a:solidFill>
                  <a:srgbClr val="000000"/>
                </a:solidFill>
                <a:latin typeface="Calibri"/>
                <a:ea typeface="Arial Unicode MS"/>
              </a:rPr>
              <a:t> </a:t>
            </a:r>
            <a:endParaRPr lang="en-US" sz="900" b="0" i="1" u="none" strike="noStrike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Arial Unicode MS"/>
              <a:cs typeface="Calibri"/>
            </a:endParaRP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986B13DB-1141-2F29-F721-EECE770262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5919" y="3663753"/>
            <a:ext cx="2894707" cy="9110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Schnittstellen </a:t>
            </a:r>
            <a:b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de-DE" sz="9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ADN IT-Projektteam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Christian Brunnbauer (LTB400), Helmut Hettinger (Fimas), Hr. Dahms (P&amp;I), Christian Reininger (ELO),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B6D07315-221B-A0E4-49EC-F87EECD72D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9075" y="3667174"/>
            <a:ext cx="2894707" cy="9110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algn="ctr">
              <a:lnSpc>
                <a:spcPct val="100000"/>
              </a:lnSpc>
              <a:spcBef>
                <a:spcPct val="30000"/>
              </a:spcBef>
              <a:buClr>
                <a:srgbClr val="666666"/>
              </a:buClr>
              <a:buSzPct val="110000"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Schnittstellen / Entwicklung</a:t>
            </a:r>
            <a:br>
              <a:rPr lang="de-DE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</a:b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Timo Große / </a:t>
            </a:r>
            <a:r>
              <a:rPr lang="de-DE" sz="900" dirty="0">
                <a:solidFill>
                  <a:srgbClr val="000000"/>
                </a:solidFill>
                <a:latin typeface="Calibri"/>
              </a:rPr>
              <a:t>Rania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Adam</a:t>
            </a:r>
            <a:r>
              <a:rPr lang="de-DE" sz="900" dirty="0">
                <a:solidFill>
                  <a:srgbClr val="000000"/>
                </a:solidFill>
                <a:latin typeface="Calibri"/>
              </a:rPr>
              <a:t>(ab Februar: </a:t>
            </a:r>
            <a:r>
              <a:rPr lang="de-DE" sz="900" dirty="0">
                <a:solidFill>
                  <a:srgbClr val="000000"/>
                </a:solidFill>
                <a:ea typeface="+mn-lt"/>
                <a:cs typeface="+mn-lt"/>
              </a:rPr>
              <a:t>Christos </a:t>
            </a:r>
            <a:r>
              <a:rPr lang="de-DE" sz="900" dirty="0" err="1">
                <a:solidFill>
                  <a:srgbClr val="000000"/>
                </a:solidFill>
                <a:ea typeface="+mn-lt"/>
                <a:cs typeface="+mn-lt"/>
              </a:rPr>
              <a:t>Tachtsidis</a:t>
            </a:r>
            <a:r>
              <a:rPr lang="de-DE" sz="900" dirty="0">
                <a:solidFill>
                  <a:srgbClr val="000000"/>
                </a:solidFill>
                <a:latin typeface="Calibri"/>
              </a:rPr>
              <a:t> )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/ H. Drews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259266F3-F285-AF31-A28D-A1951EF680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2187" y="5570223"/>
            <a:ext cx="2894707" cy="3879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Fachlicher Bereich Accounts </a:t>
            </a:r>
            <a:r>
              <a:rPr kumimoji="0" lang="de-DE" sz="9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receivable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Martin Riebesell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5143B9E8-10D4-0EA3-314E-89CCF71FFE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9075" y="4644918"/>
            <a:ext cx="2894707" cy="3879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</p:spPr>
        <p:txBody>
          <a:bodyPr lIns="89956" tIns="89956" rIns="89956" bIns="89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666666"/>
              </a:buClr>
              <a:buSzPct val="110000"/>
              <a:buFontTx/>
              <a:buNone/>
              <a:tabLst>
                <a:tab pos="1523238" algn="l"/>
                <a:tab pos="3614517" algn="r"/>
              </a:tabLst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Migration </a:t>
            </a:r>
            <a:b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Hilmar von Campe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60A641A-A0B2-B974-6AB3-EC37FEFAA3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19075" y="1347303"/>
            <a:ext cx="2888429" cy="62573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71981" tIns="71981" rIns="71981" bIns="71981" anchor="ctr"/>
          <a:lstStyle>
            <a:lvl1pPr>
              <a:spcBef>
                <a:spcPct val="75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spcBef>
                <a:spcPct val="25000"/>
              </a:spcBef>
              <a:buClr>
                <a:srgbClr val="F0AB00"/>
              </a:buClr>
              <a:buSzPct val="8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spcBef>
                <a:spcPct val="25000"/>
              </a:spcBef>
              <a:buClr>
                <a:srgbClr val="666666"/>
              </a:buClr>
              <a:buSzPct val="8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spcBef>
                <a:spcPct val="25000"/>
              </a:spcBef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spcBef>
                <a:spcPct val="15000"/>
              </a:spcBef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666666"/>
              </a:buClr>
              <a:buSzPct val="80000"/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</a:rPr>
              <a:t>Steuerungskreis</a:t>
            </a: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Arial Unicode MS" panose="020B0604020202020204" pitchFamily="34" charset="-128"/>
            </a:endParaRPr>
          </a:p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J. </a:t>
            </a:r>
            <a:r>
              <a:rPr kumimoji="0" lang="en-US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Ringsgwandl</a:t>
            </a: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, A. Ebach, K. Eschmann, J. </a:t>
            </a:r>
            <a:r>
              <a:rPr kumimoji="0" lang="en-US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Schwanhäuser</a:t>
            </a: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, B. Bahne, M. Jacob, Dr. O. </a:t>
            </a:r>
            <a:r>
              <a:rPr kumimoji="0" lang="en-US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Kosing</a:t>
            </a: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+mn-cs"/>
              </a:rPr>
              <a:t>, J. Basan</a:t>
            </a:r>
            <a:endParaRPr kumimoji="0" lang="en-US" alt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Arial Unicode MS" panose="020B0604020202020204" pitchFamily="34" charset="-128"/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EDBF8D5-356D-6514-55C0-3675443F7FAE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080403" y="1660169"/>
            <a:ext cx="1738672" cy="0"/>
          </a:xfrm>
          <a:prstGeom prst="line">
            <a:avLst/>
          </a:prstGeom>
          <a:ln>
            <a:tailEnd type="non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117138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6105D8-C58D-5C2A-D20A-CC1DA4BD4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6"/>
            <a:ext cx="12192000" cy="2977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06C49-EB10-B915-96E6-4F0EB5455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" y="4763"/>
            <a:ext cx="1749006" cy="608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96CD74-45AB-71BC-B997-9536BD5A2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7018" y="1361061"/>
            <a:ext cx="13931659" cy="1188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41E56-B060-D60B-9422-DEBD5177F7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6" t="1084" r="21" b="-1666"/>
          <a:stretch>
            <a:fillRect/>
          </a:stretch>
        </p:blipFill>
        <p:spPr>
          <a:xfrm>
            <a:off x="1558" y="1017"/>
            <a:ext cx="12189525" cy="1169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41D74D-58D0-ADF5-BEF8-F24C2124A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390" y="2271354"/>
            <a:ext cx="6574767" cy="3249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19DB7-1E9E-DFCA-262B-B047B33B8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9593" y="2652354"/>
            <a:ext cx="2768361" cy="1064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280D68-A478-953A-E138-DC2268EF7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7000" y="3685185"/>
            <a:ext cx="1412756" cy="31682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7DA49E-4BB3-4F39-F64D-C04F655246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0358" y="3733351"/>
            <a:ext cx="1211472" cy="30862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BE5097-5D91-6204-A9BB-52B05C2D2F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4364" y="5314682"/>
            <a:ext cx="4715953" cy="13326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35DAA4-7EE0-1853-C56B-8B1BE89803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5863" y="4819290"/>
            <a:ext cx="3880990" cy="2078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362074-33DB-0C38-3C7E-9C3273A86A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54" y="2409645"/>
            <a:ext cx="2544615" cy="2426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2F64A4-0D63-EB25-B501-0DE357755C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474543" y="4558162"/>
            <a:ext cx="3795804" cy="150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0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8219062-9107-87F3-D6B3-CE632653F7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9255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7" imgH="348" progId="TCLayout.ActiveDocument.1">
                  <p:embed/>
                </p:oleObj>
              </mc:Choice>
              <mc:Fallback>
                <p:oleObj name="think-cell Folie" r:id="rId3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219062-9107-87F3-D6B3-CE632653F7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4C92E96-7262-6F9F-78C8-CB1422A3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F2H | Rollenkonkretisierung ausgewählter Projektbeteiligter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FC45CC98-3BC1-F456-6193-6282CEBA2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76247"/>
              </p:ext>
            </p:extLst>
          </p:nvPr>
        </p:nvGraphicFramePr>
        <p:xfrm>
          <a:off x="330066" y="907674"/>
          <a:ext cx="11449050" cy="49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775">
                  <a:extLst>
                    <a:ext uri="{9D8B030D-6E8A-4147-A177-3AD203B41FA5}">
                      <a16:colId xmlns:a16="http://schemas.microsoft.com/office/drawing/2014/main" val="2590353694"/>
                    </a:ext>
                  </a:extLst>
                </a:gridCol>
                <a:gridCol w="2095053">
                  <a:extLst>
                    <a:ext uri="{9D8B030D-6E8A-4147-A177-3AD203B41FA5}">
                      <a16:colId xmlns:a16="http://schemas.microsoft.com/office/drawing/2014/main" val="2986128269"/>
                    </a:ext>
                  </a:extLst>
                </a:gridCol>
                <a:gridCol w="6821222">
                  <a:extLst>
                    <a:ext uri="{9D8B030D-6E8A-4147-A177-3AD203B41FA5}">
                      <a16:colId xmlns:a16="http://schemas.microsoft.com/office/drawing/2014/main" val="2038729074"/>
                    </a:ext>
                  </a:extLst>
                </a:gridCol>
              </a:tblGrid>
              <a:tr h="315588">
                <a:tc>
                  <a:txBody>
                    <a:bodyPr/>
                    <a:lstStyle/>
                    <a:p>
                      <a:r>
                        <a:rPr lang="de-DE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Funktion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36744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Christian Jahn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Referent Hauptprojekt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Vertretung Roland 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Stanienda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, Ansprechpartner zu allen fachlichen Themen zum Hauptprojekt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59431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Christiane Bohley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Principal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 Consulting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Beratung der Projektleitung technisch und kaufmännisch (Sebastian Wiedenhöft und Sarah Müller), Expert Schnittstellen / AIF, Bindeglied zwischen Fachbereich und IT, Beratung E2E Prozesse, interne Ansprechpartnerin SAP, Berechtigungen SAP / IT-Koordinator, Solution 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Architect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775246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Mirela Dobrescu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KeyUser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 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DWH II Projektleitung, Datenbereinigung, Datenextraktion Bestandssysteme und Migration, Schnittstellen Vorsysteme und SAC (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tech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.),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1273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Dr. Roland </a:t>
                      </a:r>
                      <a:r>
                        <a:rPr lang="de-DE" err="1">
                          <a:solidFill>
                            <a:schemeClr val="bg1"/>
                          </a:solidFill>
                        </a:rPr>
                        <a:t>Stanienda</a:t>
                      </a:r>
                      <a:endParaRPr lang="de-DE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Projektleiter F2H ADAC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Projektleitung Flight-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to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-HANA, Ansprechpartner zum ADAC R2H Hauptprojekt,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192712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Sarah Müller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Projektleiter F2H Kaufm.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Projektleitung Kaufm. ADN, Ansprechpartnerin Finance &amp; Controlling, Vertretung Sebastian Wiedenhöft, Projektcontrolling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415268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Sebastian Wiedenhöft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Gesamtprojektleitung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Projektleiter F2H 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tech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., 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KeyUser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 Schnittstellen, Bindeglied aller Teilprojekte, Hauptansprechpartner, Projektcontrolling, Vertretung Sarah Müller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313421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Ferenz Lehner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Solution 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Architect</a:t>
                      </a:r>
                      <a:endParaRPr lang="de-DE" sz="12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System- und Prozessberatung, E2E Prozessberatung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17272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Johannes Cordes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Projektleiter F2H NTT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Projektleitung Flight-</a:t>
                      </a:r>
                      <a:r>
                        <a:rPr lang="de-DE" sz="1200" err="1">
                          <a:solidFill>
                            <a:schemeClr val="bg1"/>
                          </a:solidFill>
                        </a:rPr>
                        <a:t>to</a:t>
                      </a:r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-HANA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636093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Stefanie Bauer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Changemanagement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Changemanagement und Schulungen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58743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bg1"/>
                          </a:solidFill>
                        </a:rPr>
                        <a:t>Diana Dessau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R2H / ADAC technische 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1"/>
                          </a:solidFill>
                        </a:rPr>
                        <a:t>Verantwortlich technische Infrastruktur, Berechtigungen und RICEFW Themen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209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1897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sign_NTTDATA_25">
  <a:themeElements>
    <a:clrScheme name="Benutzerdefiniert 5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lIns="0" tIns="0" rIns="0" bIns="0" rtlCol="0" anchor="t"/>
      <a:lstStyle>
        <a:defPPr algn="l">
          <a:lnSpc>
            <a:spcPct val="110000"/>
          </a:lnSpc>
          <a:spcBef>
            <a:spcPts val="600"/>
          </a:spcBef>
          <a:defRPr sz="18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Design_NTTDATA_25" id="{B9EBDD21-8D62-4FEB-BF89-4EFA44CC1420}" vid="{B35F330C-1ADB-4C93-BD6E-7B146F271FCC}"/>
    </a:ext>
  </a:extLst>
</a:theme>
</file>

<file path=ppt/theme/theme2.xml><?xml version="1.0" encoding="utf-8"?>
<a:theme xmlns:a="http://schemas.openxmlformats.org/drawingml/2006/main" name="NTT DATA DARK ">
  <a:themeElements>
    <a:clrScheme name="Benutzerdefiniert 52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noFill/>
        </a:ln>
      </a:spPr>
      <a:bodyPr lIns="0" tIns="0" rIns="0" bIns="0" rtlCol="0" anchor="t"/>
      <a:lstStyle>
        <a:defPPr algn="l">
          <a:lnSpc>
            <a:spcPct val="110000"/>
          </a:lnSpc>
          <a:spcBef>
            <a:spcPts val="600"/>
          </a:spcBef>
          <a:defRPr sz="1800"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D3BF790C-00AD-40FF-BE15-E1058D82851B}" vid="{1AEA0914-1F42-4395-A978-BA57BA4D24B3}"/>
    </a:ext>
  </a:extLst>
</a:theme>
</file>

<file path=ppt/theme/theme3.xml><?xml version="1.0" encoding="utf-8"?>
<a:theme xmlns:a="http://schemas.openxmlformats.org/drawingml/2006/main" name="1_NTT DATA LIGHT ">
  <a:themeElements>
    <a:clrScheme name="NTT 2023 Final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36000" tIns="36000" rIns="36000" bIns="36000" rtlCol="0" anchor="ctr"/>
      <a:lstStyle>
        <a:defPPr algn="ctr">
          <a:lnSpc>
            <a:spcPct val="110000"/>
          </a:lnSpc>
          <a:spcBef>
            <a:spcPts val="600"/>
          </a:spcBef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Presentation1" id="{D3BF790C-00AD-40FF-BE15-E1058D82851B}" vid="{90BA72B4-35B8-43DA-91C8-8D456D8BCD0B}"/>
    </a:ext>
  </a:extLst>
</a:theme>
</file>

<file path=ppt/theme/theme4.xml><?xml version="1.0" encoding="utf-8"?>
<a:theme xmlns:a="http://schemas.openxmlformats.org/drawingml/2006/main" name="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</a:spPr>
      <a:bodyPr wrap="none" rtlCol="0" anchor="ctr"/>
      <a:lstStyle>
        <a:defPPr algn="l">
          <a:defRPr sz="1400" b="0" dirty="0" smtClean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st2.pptx" id="{991CF742-2782-49F1-8C67-D72EF3B2A65F}" vid="{3D4CF818-66C9-4076-9E5F-DD8364FE9FFF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739971-8ec7-40a4-bfd6-e478fcae625b">
      <Terms xmlns="http://schemas.microsoft.com/office/infopath/2007/PartnerControls"/>
    </lcf76f155ced4ddcb4097134ff3c332f>
    <TaxCatchAll xmlns="ee83ab54-67a6-4fc8-a5f8-d937a1482c0d" xsi:nil="true"/>
    <DatumundUhrzeit xmlns="94739971-8ec7-40a4-bfd6-e478fcae625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A8A94472CBF743AFA812F25FAB7016" ma:contentTypeVersion="19" ma:contentTypeDescription="Create a new document." ma:contentTypeScope="" ma:versionID="cfb1cc485df8a83003f6fd58529ae634">
  <xsd:schema xmlns:xsd="http://www.w3.org/2001/XMLSchema" xmlns:xs="http://www.w3.org/2001/XMLSchema" xmlns:p="http://schemas.microsoft.com/office/2006/metadata/properties" xmlns:ns2="94739971-8ec7-40a4-bfd6-e478fcae625b" xmlns:ns3="ee83ab54-67a6-4fc8-a5f8-d937a1482c0d" targetNamespace="http://schemas.microsoft.com/office/2006/metadata/properties" ma:root="true" ma:fieldsID="9a9518c754f1e585f7e4e1e67a76255f" ns2:_="" ns3:_="">
    <xsd:import namespace="94739971-8ec7-40a4-bfd6-e478fcae625b"/>
    <xsd:import namespace="ee83ab54-67a6-4fc8-a5f8-d937a1482c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DatumundUhrzei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739971-8ec7-40a4-bfd6-e478fcae62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0b634ba-8483-4c31-8a72-f1b45ea47e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umundUhrzeit" ma:index="23" nillable="true" ma:displayName="Datum und Uhrzeit" ma:format="DateOnly" ma:internalName="DatumundUhrzeit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3ab54-67a6-4fc8-a5f8-d937a1482c0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949ee7d-4e7b-4575-aae1-f6d8c9b02392}" ma:internalName="TaxCatchAll" ma:showField="CatchAllData" ma:web="ee83ab54-67a6-4fc8-a5f8-d937a1482c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2,"isValidatorEnabled":false,"isLocked":false,"elementsMetadata":[],"slideId":"638315636846541530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2979B60E-10F5-43BD-939E-A0F7C8091562}">
  <ds:schemaRefs>
    <ds:schemaRef ds:uri="94739971-8ec7-40a4-bfd6-e478fcae625b"/>
    <ds:schemaRef ds:uri="ee83ab54-67a6-4fc8-a5f8-d937a1482c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DFB54C-ADA0-4AA5-B162-5036F16F4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739971-8ec7-40a4-bfd6-e478fcae625b"/>
    <ds:schemaRef ds:uri="ee83ab54-67a6-4fc8-a5f8-d937a1482c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FDE58E-9850-434D-82EB-92DC495E974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BB0509D-FD16-4F0C-89C1-A692E774D121}">
  <ds:schemaRefs/>
</ds:datastoreItem>
</file>

<file path=customXml/itemProps5.xml><?xml version="1.0" encoding="utf-8"?>
<ds:datastoreItem xmlns:ds="http://schemas.openxmlformats.org/officeDocument/2006/customXml" ds:itemID="{821E4796-49E9-4CAD-9D98-4195BE64C9B2}">
  <ds:schemaRefs/>
</ds:datastoreItem>
</file>

<file path=docMetadata/LabelInfo.xml><?xml version="1.0" encoding="utf-8"?>
<clbl:labelList xmlns:clbl="http://schemas.microsoft.com/office/2020/mipLabelMetadata">
  <clbl:label id="{46c4de19-0ffc-4c54-aa86-ee7274afa9d7}" enabled="0" method="" siteId="{46c4de19-0ffc-4c54-aa86-ee7274afa9d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Design_NTTDATA_25</Template>
  <Application>Microsoft Office PowerPoint</Application>
  <PresentationFormat>Breitbild</PresentationFormat>
  <Slides>3</Slides>
  <Notes>1</Notes>
  <HiddenSlides>0</HiddenSlides>
  <ScaleCrop>false</ScaleCrop>
  <HeadingPairs>
    <vt:vector size="4" baseType="variant">
      <vt:variant>
        <vt:lpstr>Design</vt:lpstr>
      </vt:variant>
      <vt:variant>
        <vt:i4>4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Design_NTTDATA_25</vt:lpstr>
      <vt:lpstr>NTT DATA DARK </vt:lpstr>
      <vt:lpstr>1_NTT DATA LIGHT </vt:lpstr>
      <vt:lpstr>ADAC</vt:lpstr>
      <vt:lpstr>PowerPoint-Präsentation</vt:lpstr>
      <vt:lpstr>PowerPoint-Präsentation</vt:lpstr>
      <vt:lpstr>F2H | Rollenkonkretisierung ausgewählter Projektbeteiligter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Jonitz, Sina</dc:creator>
  <cp:revision>12</cp:revision>
  <dcterms:created xsi:type="dcterms:W3CDTF">2025-06-18T13:42:56Z</dcterms:created>
  <dcterms:modified xsi:type="dcterms:W3CDTF">2026-02-20T23:20:02Z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0x01010040A8A94472CBF743AFA812F25FAB7016</vt:lpwstr>
  </property>
  <property fmtid="{D5CDD505-2E9C-101B-9397-08002B2CF9AE}" pid="3" name="MediaServiceImageTags">
    <vt:lpwstr/>
  </property>
  <property fmtid="{D5CDD505-2E9C-101B-9397-08002B2CF9AE}" pid="4" name="MSIP_Label_c3933d61-92e5-4ff4-83ee-0077044276e6_Enabled">
    <vt:lpwstr>true</vt:lpwstr>
  </property>
  <property fmtid="{D5CDD505-2E9C-101B-9397-08002B2CF9AE}" pid="5" name="MSIP_Label_c3933d61-92e5-4ff4-83ee-0077044276e6_SetDate">
    <vt:lpwstr>2025-09-22T10:09:28Z</vt:lpwstr>
  </property>
  <property fmtid="{D5CDD505-2E9C-101B-9397-08002B2CF9AE}" pid="6" name="MSIP_Label_c3933d61-92e5-4ff4-83ee-0077044276e6_Method">
    <vt:lpwstr>Privileged</vt:lpwstr>
  </property>
  <property fmtid="{D5CDD505-2E9C-101B-9397-08002B2CF9AE}" pid="7" name="MSIP_Label_c3933d61-92e5-4ff4-83ee-0077044276e6_Name">
    <vt:lpwstr>vb_intern</vt:lpwstr>
  </property>
  <property fmtid="{D5CDD505-2E9C-101B-9397-08002B2CF9AE}" pid="8" name="MSIP_Label_c3933d61-92e5-4ff4-83ee-0077044276e6_SiteId">
    <vt:lpwstr>9186fbbe-fa2f-408b-b116-e9799f388136</vt:lpwstr>
  </property>
  <property fmtid="{D5CDD505-2E9C-101B-9397-08002B2CF9AE}" pid="9" name="MSIP_Label_c3933d61-92e5-4ff4-83ee-0077044276e6_ActionId">
    <vt:lpwstr>9721d4aa-0db4-44fb-950d-f89b479bf8d6</vt:lpwstr>
  </property>
  <property fmtid="{D5CDD505-2E9C-101B-9397-08002B2CF9AE}" pid="10" name="MSIP_Label_c3933d61-92e5-4ff4-83ee-0077044276e6_ContentBits">
    <vt:lpwstr>0</vt:lpwstr>
  </property>
  <property fmtid="{D5CDD505-2E9C-101B-9397-08002B2CF9AE}" pid="11" name="MSIP_Label_c3933d61-92e5-4ff4-83ee-0077044276e6_Tag">
    <vt:lpwstr>10, 0, 1, 2</vt:lpwstr>
  </property>
</Properties>
</file>